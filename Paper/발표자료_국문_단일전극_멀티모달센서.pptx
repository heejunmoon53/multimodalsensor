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216000"/>
            <a:ext cx="682105" cy="720000"/>
          </a:xfrm>
          <a:prstGeom prst="rect">
            <a:avLst/>
          </a:prstGeom>
        </p:spPr>
      </p:pic>
      <p:pic>
        <p:nvPicPr>
          <p:cNvPr id="3" name="Picture 2" descr="logo_bi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19" y="216000"/>
            <a:ext cx="985263" cy="7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1728000"/>
            <a:ext cx="11040119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44546A"/>
                </a:solidFill>
                <a:latin typeface="맑은 고딕"/>
                <a:ea typeface="맑은 고딕"/>
                <a:cs typeface="맑은 고딕"/>
              </a:rPr>
              <a:t>단일 전극 소프트 멀티모달 센서의 시분할 측정과 임베디드 AI 기반 실시간 신호 디커플링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096000"/>
            <a:ext cx="2880000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56000" y="30960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3384000"/>
            <a:ext cx="11040119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고려대학교 기계공학과 BioRobotics &amp; Control (BiRC) 연구실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고려대학교 기계공학과</a:t>
            </a:r>
          </a:p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고려대학교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문희준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000" y="13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서론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1.1 배경  ·  1.2 기존 연구의 한계  ·  1.3 연구 목적 및 중요성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21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8000" y="22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센서 설계 및 제작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2.1 센서 설계  ·  2.2 기계적·전자기적 특성  ·  2.3 센서 제작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30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31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측정 시스템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3.1 시분할 측정(TDM) 아키텍처  ·  3.2 다신호 스위칭 PCB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39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8000" y="40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신호 특성화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4.1 실험 설정  ·  4.2 데이터 취득  ·  4.3 비접촉: 인장–근접  ·  4.4 접촉: 인장–압력  ·  4.5 도체–유전체  ·  4.6 TENG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48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49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디커플링 모델과 실시간 추론을 위한 임베디드 구현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5.1 디커플링 모델  ·  5.2 임베디드 구현  ·  5.3 실시간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57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8000" y="58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6.1 요약  ·  6.2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I. 서론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I.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1.1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로봇 표면은 주변 상황과 자기 자신의 상태를 함께 인지해야 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68000"/>
            <a:ext cx="3536039" cy="2015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1F77B4"/>
                </a:solidFill>
                <a:latin typeface="맑은 고딕"/>
                <a:ea typeface="맑은 고딕"/>
                <a:cs typeface="맑은 고딕"/>
              </a:rPr>
              <a:t>접촉 이전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물체가 다가오는 것을
미리 감지해야 한다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F77B4"/>
                </a:solidFill>
                <a:latin typeface="맑은 고딕"/>
                <a:ea typeface="맑은 고딕"/>
                <a:cs typeface="맑은 고딕"/>
              </a:rPr>
              <a:t>근접 (Proximity)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039" y="1368000"/>
            <a:ext cx="3536039" cy="2015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D62D2D"/>
                </a:solidFill>
                <a:latin typeface="맑은 고딕"/>
                <a:ea typeface="맑은 고딕"/>
                <a:cs typeface="맑은 고딕"/>
              </a:rPr>
              <a:t>접촉 순간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얼마나 세게 닿아 있는지
알아야 한다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D62D2D"/>
                </a:solidFill>
                <a:latin typeface="맑은 고딕"/>
                <a:ea typeface="맑은 고딕"/>
                <a:cs typeface="맑은 고딕"/>
              </a:rPr>
              <a:t>접촉력 (Force)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079" y="1368000"/>
            <a:ext cx="3536039" cy="2015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FF8C00"/>
                </a:solidFill>
                <a:latin typeface="맑은 고딕"/>
                <a:ea typeface="맑은 고딕"/>
                <a:cs typeface="맑은 고딕"/>
              </a:rPr>
              <a:t>상시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센서가 붙은 몸체 자체가
변형한다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8C00"/>
                </a:solidFill>
                <a:latin typeface="맑은 고딕"/>
                <a:ea typeface="맑은 고딕"/>
                <a:cs typeface="맑은 고딕"/>
              </a:rPr>
              <a:t>인장 (Strain)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3708000"/>
            <a:ext cx="11040119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그런데 실제 상호작용에서는 세 자극이 동시에 작용한다.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→ 단일 물리량만 측정하는 센서는 현실 상황에서 활용도가 제한된다.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→ 서로 다른 자극이 하나의 전기적 응답에 겹쳐 들어온다  =  신호 결합 (signal coupling)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I.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1.1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선행 연구가 말하는 근거 — 각 모달리티는 왜 필요한가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1296000" cy="1260000"/>
          </a:xfrm>
          <a:prstGeom prst="roundRect">
            <a:avLst>
              <a:gd name="adj" fmla="val 6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1999" y="1350000"/>
            <a:ext cx="9456119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충돌이 일어나기 전에 개입할 수 있는 유일한 수단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• 안전한 pHRI: 접촉 후 반응으로는 불충분 → 접근을 예측하고 궤적 수정 [6],[7]
• 로봇 팔 외피 전면 분포 배치로 표면 전체 충돌 회피 [8], 준전신 감지 [9]
• 파지 시 손이 닿기 전 자세 정렬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2682000"/>
            <a:ext cx="1296000" cy="1260000"/>
          </a:xfrm>
          <a:prstGeom prst="roundRect">
            <a:avLst>
              <a:gd name="adj" fmla="val 6000"/>
            </a:avLst>
          </a:prstGeom>
          <a:solidFill>
            <a:srgbClr val="D6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접촉력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1999" y="2736000"/>
            <a:ext cx="9456119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파지 안정성은 가하는 힘의 크기에 직접 좌우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• 촉각 피드백이 없으면 물체를 놓치거나 과도한 힘으로 손상 [10]
• 미끄러짐은 빠르게 검출·보정하지 않으면 곧바로 파지 실패 [11]
• 근접이 “언제 닿는가”라면, 접촉력은 “얼마나 세게 닿았는가” [12]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4068000"/>
            <a:ext cx="1296000" cy="1260000"/>
          </a:xfrm>
          <a:prstGeom prst="roundRect">
            <a:avLst>
              <a:gd name="adj" fmla="val 6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1999" y="4122000"/>
            <a:ext cx="9456119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센서가 붙은 몸체가 변형하는 경우 필수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• 소프트 로봇은 사실상 무한 자유도 → 개루프 제어로 정확한 작업 곤란 [13]
• 자기수용감각이 제어 루프를 닫는 전제 조건 [14]
• 액체금속 변형 센서 + 소프트 크롤링 로봇 폐루프 제어 사례 [15]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I.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1.1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왜 한 지점에서 함께 측정해야 하는가 — 세 모달리티는 독립적이지 않다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332000"/>
            <a:ext cx="11040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변형하는 표면 위에서는 근접·접촉 신호의 기준 자체가 변형 상태에 따라 달라진다.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872000"/>
            <a:ext cx="11040119" cy="1260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실측: 인장 상태가 압력 민감도를 6.6배까지 바꾼다  (교차 민감도)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ε = 0 %  에서 10 N 가압 → ΔR/R₀ 변화 폭  3.95 %p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ε = 30 % 에서 9.2 N 가압 → ΔR/R₀ 변화 폭  26.14 %p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3312000"/>
            <a:ext cx="1104011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→ 변형률을 모르면, 같은 저항 변화가 어느 정도의 접촉력인지 확정할 수 없다.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세 물리량을 각각 별개의 센서로 측정하더라도 이 결합은 사라지지 않는다.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오히려 서로 다른 위치에서 측정된 값을 정합해야 하는 문제가 추가된다.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▶  </a:t>
            </a: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결합이 발생하는 바로 그 지점에서 세 신호를 동시에 취득하고 함께 디커플링한다.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I.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1.2 기존 연구의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Fundamental Challenge — 배치 방식과 무관하게 세 한계 중 하나에 부딪힌다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어레이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836000"/>
            <a:ext cx="3536039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크로스토크 · 배선 · 면적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484000"/>
            <a:ext cx="3320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소자 수만큼 배선이 늘고 인접 소자 간 크로스토크가 발생하며, 필요한 면적도 함께 커진다[34],[35]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039" y="1296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039" y="1836000"/>
            <a:ext cx="3536039" cy="540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박리 · 크로스토크 · 배선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6039" y="2484000"/>
            <a:ext cx="3320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배선·크로스토크 문제는 그대로 남고, 층간 박리라는 새 취약점이 더해진다[36],[37]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0079" y="1296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단일 소자 디커플링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079" y="1836000"/>
            <a:ext cx="3536039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배선·면적·박리는 피하지만…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079" y="2484000"/>
            <a:ext cx="3320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신호 디커플링 자체가 어려워 인장 또는 근접 중 하나만 단독으로 다루는 데 그친다[16]–[18],[21]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5004000"/>
            <a:ext cx="11040119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→ 배선·크로스토크·박리 문제와 디커플링 문제는 서로 다른 원인에서 비롯되며, 하나를 피하려는 설계는 다른 하나를 떠안는 경향이 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I.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1.2 기존 연구의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기존 연구의 한계와 본 연구의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60000"/>
            <a:ext cx="2829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선행 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000" y="1260000"/>
            <a:ext cx="4089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96000" y="1260000"/>
            <a:ext cx="3945600" cy="36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연구의 대응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" y="16740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강체 근접 센서 분포 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000" y="16740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곡면·대변형 표면에 밀착 불가
배선 수 ∝ 센서 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96000" y="16740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두 가닥 단일 전극의
평면·신축 코일 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23436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정전용량형 근접+촉각 센서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000" y="23436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인장과 근접이 같은 정전용량 변화로
나타나 원리적 분리 곤란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6000" y="23436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L은 (ε, d), R은 ε에만 의존하는
물리적 비대칭 이용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30132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인덕티브 소프트 센서 (단일 모달)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000" y="30132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디커플링 난이도로
인장 또는 근접 중 하나만 사용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96000" y="30132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동일 코일에서 3종 동시 추정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36828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다중 소자 하이브리드 통합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000" y="36828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소자 수만큼 배선·두께·크로스토크 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96000" y="36828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소자를 늘리지 않고
1 ms TDM으로 시분할 사용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" y="43524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LCR 미터 기반 인덕턴스 계측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000" y="43524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탁상형 계측기 필요
이동형·착용형 응용 불가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96000" y="43524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LDC1614를 실은 65 × 52 mm 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" y="50220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PC 기반 AI 디커플링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6000" y="50220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USB 왕복 20–40 ms, 지터 ±5–15 ms
→ 되먹임 제어 불가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96000" y="50220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MCU 온보드 추론 260 µs
지연 산포 약 2 µs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I.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1.3 연구 목적 및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왜 유연하고 소자 수를 늘리지 않는 센서가 필요한가 — 유연화만으로는 부족하다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11040119" cy="1655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① 부착 대상은 곡면·대변형 표면이다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강체 센서를 배열하면 표면에 밀착시킬 수 없고, 배열 사이의 강성 불연속이 오히려 변형을 방해한다. 유연 센서는 등각 접촉과 대변형을 허용하며, 웨어러블 응용으로도 확장된다[4],[16].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3096000"/>
            <a:ext cx="11040119" cy="1872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② 하지만 세 모달리티를 세 개의 소자로 구현하면 배선이 그만큼 늘어난다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소자 수에 비례한 배선 증가, 적층에 따른 두께 증가와 박리 위험, 인접 소자 간 크로스토크가 뒤따른다[1],[5]. 대면적 전자 피부(e-skin)에서는 이 배선 복잡도가 실용화의 주된 병목으로 지적되어 왔다.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→ 본 연구의 접근: 소자 수를 늘리는 대신 하나의 소자를 시간축에서 나누어 쓴다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I.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1.3 연구 목적 및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본 연구의 접근 — 세 가지 설계 결정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단일 전극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872000"/>
            <a:ext cx="3536039" cy="864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소자를 늘리는 대신
하나의 소자를 시간축에서 나눠 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880000"/>
            <a:ext cx="3320039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• EGaIn 나선 코일 1개, 배선 2가닥
• 소자 간 크로스토크 원리적으로 없음
• 배선 수는 모달리티 수와 무관하게 2
• 평면성·신축성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039" y="1332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1 ms TDM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039" y="1872000"/>
            <a:ext cx="3536039" cy="864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AC 여기 · DC 여기 · 무여기를
순차 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6039" y="2880000"/>
            <a:ext cx="3320039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• AC → 공진 주파수 (인덕턴스 L)
• DC → 전압 분배 (저항 R)
• 무여기 → 부유 상태 (TENG 전압 V)
• 1 kHz 취득, CPU 유휴율 93.9 %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0079" y="1332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임베디드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079" y="1872000"/>
            <a:ext cx="3536039" cy="864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계측과 추론을 모두
MCU 안에서 끝낸다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079" y="2880000"/>
            <a:ext cx="3320039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• 해석적 역산은 특이점에서 발산
• PC 추론은 USB 왕복 20–40 ms
• 1,413 파라미터 모델을 STM32에 임베딩
• 실측 260 µs, 1 ms 주기 내 완결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II. 센서 설계 및 제작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II. 센서 설계 및 제작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2.1 센서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EGaIn 액체금속 평면 직사각형 나선 코일 (초기 길이 120 mm, 인장 0–30 %)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8" name="Picture 7" descr="fig0_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60000"/>
            <a:ext cx="7380000" cy="49058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08000" y="1368000"/>
            <a:ext cx="3456000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평면 직사각형 나선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EGaIn 액체금속을 일래스토머 기판 위에 DIW(Direct Ink Writing)로 인쇄한다.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대변형에도 도전 경로가 끊기지 않아 30 % 인장까지 반복 사용이 가능하다.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하나의 소자, 두 가지 역할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코일 형상 덕분에 하나의 도전 트레이스가 저항 소자와 인덕터 역할을 동시에 수행한다.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II. 센서 설계 및 제작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2.2 기계적·전자기적 특성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자극별 응답 시그니처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1749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6000" y="1296000"/>
            <a:ext cx="741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8000" y="1296000"/>
            <a:ext cx="1029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R_s (AC)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8000" y="1296000"/>
            <a:ext cx="885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R_DC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4000" y="1296000"/>
            <a:ext cx="1029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V_TENG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4000" y="1296000"/>
            <a:ext cx="5277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지배 기구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16740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인장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6000" y="16740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8000" y="16740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8000" y="16740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4000" y="16740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4000" y="16740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길이 ↑, 단면적 ↓ → R ↑ ;  코일 기하 변화 → L 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21276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도체 접근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6000" y="21276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276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8000" y="21276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4000" y="21276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4000" y="21276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와전류 손실 → 반사 임피던스 (신호 감쇠)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" y="25812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유전체 접근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6000" y="25812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68000" y="25812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8000" y="25812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4000" y="25812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4000" y="25812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유전율 변화 / 전기장 재분포 (신호 증폭)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00" y="30348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대전체 접촉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6000" y="30348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0" y="30348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8000" y="30348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84000" y="30348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4000" y="30348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마찰전기 전하 이동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34884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압축 (돌기)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6000" y="34884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↓*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68000" y="34884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48000" y="34884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84000" y="34884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4000" y="34884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국소 단면적 ↓ ;  Q ↓ → 겉보기 L ↑</a:t>
            </a:r>
          </a:p>
        </p:txBody>
      </p:sp>
      <p:pic>
        <p:nvPicPr>
          <p:cNvPr id="44" name="Picture 43" descr="seminar_response_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4050000"/>
            <a:ext cx="2813592" cy="24840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56000" y="4122000"/>
            <a:ext cx="5460119" cy="23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도체와 유전체에서 ΔL의 부호가 반대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→ 단순한 방해 요인이 아니라, 물체의 전기적 성질을 식별할 수 있는 정보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II. 센서 설계 및 제작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2.3 센서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브리징과 돌기 구조로 완성되는 4단계 공정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8" name="Picture 7" descr="seminar_fabr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59" y="1224000"/>
            <a:ext cx="9900000" cy="48690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6084000"/>
            <a:ext cx="9888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핵심 공정: 브리징(안쪽 끝 단자를 권선 위로 넘겨 두 가닥 배선으로 완결)  ·  돌기 구조로 ΔR/R₀ 100 % 도달 하중을 210 N → 20 N으로 낮춤 (약 10배)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III. 측정 시스템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III. 측정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3.1 시분할 측정(TDM)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1 ms 주기로 AC 여기 · DC 여기 · 무여기를 순환 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8" name="Picture 7" descr="fig1_t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59" y="1224000"/>
            <a:ext cx="6189943" cy="42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5814000"/>
            <a:ext cx="11040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TIM7 인터럽트로 두 경로 동시 시작 → I²C DMA(LDC1614 28비트, ~200 µs)와 ADC DMA(TENG 150 µs → R 150 µs) 병렬 실행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모든 전송이 DMA → 블로킹 대기 없음 · CPU 유휴율 93.9 % · 고정 샘플링 주기로 AI 결합 시 지터 방지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III. 측정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3.2 다신호 스위칭 PCB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EasyEDA Pro로 설계한 전용 6층 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pic>
        <p:nvPicPr>
          <p:cNvPr id="8" name="Picture 7" descr="seminar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000" y="1260000"/>
            <a:ext cx="3363750" cy="41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1404000"/>
            <a:ext cx="7128000" cy="39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STM32G473CBT6 — Cortex-M4F 170 MHz, Flash 128 KB, SRAM 32 KB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LDC1614 — 28비트, 1 kHz–10 MHz, I²C2 @ 0x2A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ADG734 — 4채널 아날로그 스위치, t_on 29 ns, BW 200 MHz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65 × 52 mm 6층 기판, 최대 4채널 센서 어레이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TENG 경로 TVS 다이오드 보호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IV. 신호 특성화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IV. 신호 특성화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4.1 실험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5축 대칭 인장 스테이지 — 자체 제작한 대칭 인장 + 근접 스테이지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404000"/>
            <a:ext cx="6480000" cy="26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XA/XB/YA/YB 4축 대칭 인장 + 독립 Z축 근접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700 × 700 mm 프레임, Nema23 + TB6600, Arduino Uno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320 step/mm, PyQt5 GUI 시퀀스 구동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6축 F/T 센서(CAN)로 접촉력 참값 동시 기록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PC-MCU 시각 동기 + 가감속 구간 is_steady 자동 태깅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44000" y="1404000"/>
            <a:ext cx="4272119" cy="2628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왜 상용 인장 시험기를 쓰지 않았는가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한쪽 축만 구동하면 시편이 늘어나며 중심점이 이동한다. 근접 표적은 코일 중심 바로 위에 있어야 하므로, 중심 이동이 곧 근접 거리 라벨의 오차가 된다.</a:t>
            </a:r>
          </a:p>
        </p:txBody>
      </p:sp>
      <p:pic>
        <p:nvPicPr>
          <p:cNvPr id="10" name="Picture 9" descr="seminar_test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59" y="4104000"/>
            <a:ext cx="4767233" cy="230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IV. 신호 특성화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4.2 데이터 취득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모델 입력은 언제나 (ΔL/L₀, ΔR/R₀)뿐 — 위치·힘은 정답 라벨로만 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813600" cy="342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000" y="1332000"/>
            <a:ext cx="4845600" cy="342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프로토콜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000" y="1332000"/>
            <a:ext cx="2541600" cy="342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8000" y="1332000"/>
            <a:ext cx="2613600" cy="342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17280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D1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0000" y="17280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변형 37단계 + 근접 50→0 mm 연속 (비동기)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000" y="17280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≈ 78,000행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8000" y="17280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초기 2단 PINN 학습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24444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D2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24444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P1: 변형 19단계 × 근접 스윕 / P2: 근접 13단계 × 변형 스윕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000" y="24444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금속 45,633행
손 37,116행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000" y="24444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(ε, d) 응답 곡면 특성화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31608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D3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0000" y="31608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연속 동시 스윕 2세션, PC-MCU 동기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000" y="31608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188,232행
→ 전처리 후 33,450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8000" y="31608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근접+인장 디커플러 학습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8772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D4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40000" y="38772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변형 19단계 × 근접→접촉 왕복, F/T 동시 기록 (최대 10.1 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000" y="38772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51,858행 / 569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8000" y="38772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접촉 물리 분석 · MoE 학습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45936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D5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40000" y="45936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실기 검증 3세션 (Part1 근접 / Part2 인장 / Part3 동시)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000" y="45936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26.7k / 34.0k / 32.6k행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8000" y="45936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임베디드 실시간 검증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IV. 신호 특성화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4.3 비접촉 모드: 인장–근접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(ε, d) 응답 곡면 — 디커플링이 가능한 물리적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8" name="Picture 7" descr="fig2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60000"/>
            <a:ext cx="7200000" cy="47173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64000" y="1404000"/>
            <a:ext cx="3600000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금속 표적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ΔR 등고선이 근접거리 축과 거의 완전히 평행
→ 저항은 인장에만 의존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ΔL 등고선은 d &lt; 10 mm에서 급격히 휘어짐
→ 같은 인장에서도 −15.7 % ~ +14.5 %로 부호까지 바뀜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4000" y="3636000"/>
            <a:ext cx="3600000" cy="936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∇L 과 ∇R 이 전역적으로 선형 독립
→ 디커플링 가능성의 직접적 근거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IV. 신호 특성화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4.4 접촉 모드: 인장–압력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접촉 모달리티 추가로 새로 나타난 물리 현상 — 히스테리시스·크립·교차 민감도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pic>
        <p:nvPicPr>
          <p:cNvPr id="8" name="Picture 7" descr="fig3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332000"/>
            <a:ext cx="10980000" cy="35409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3492000"/>
            <a:ext cx="1104011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깊이를 고정한 채 유지(dwell)하는 동안  ΔL 2.33 %p · ΔR 5.73 %p 추가 변화 → 힘 제거 후 잔차는 각각 0.57 %p · 0.08 %p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즉 대부분이 영구 손상이 아니라 가역적인 시간 지연 성분 → 표준선형고체(SLS) 모델과 일치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▶  </a:t>
            </a: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dwell 구간 지수 완화 피팅 →  τ = 0.93 s   (채널별: τ_L 1.33 s, τ_R 0.59 s, 통합 τ = 1.01 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IV. 신호 특성화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4.4 접촉 모드: 인장–압력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압축 시 인덕턴스가 증가해 보이는 이유 — Q-factor 저하에 의한 역산 겉보기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11040119" cy="61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Q  =  ω · (최대 저장 에너지 / 주기당 소산 에너지)  =  X / R_s  =  ω L / R_s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20880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센서가 눌린다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000" y="22139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L ↓ ,  R_DC ↑ ,  R_eddy 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" y="27288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Q 가 급감한다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000" y="28547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Q = ω L / R_s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33696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실제 공진주파수가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000" y="34955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f = 1/(2π√(LC)) · √(1 − 1/Q²)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00" y="40104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근사식으로 역산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000" y="41363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f ≈ 1/(2π√(LC)) ,  ΔL/L₀ = f₀²/f² − 1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46512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L 이 증가한 것처럼 보고됨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000" y="47771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겉보기 효과 — 실제 인덕턴스 증가가 아님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5400000"/>
            <a:ext cx="11040119" cy="756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본 연구는 이 항을 별도로 보정하지 않았다. 학습 기반 디커플러는 (ΔL, ΔR)에서 목표 물리량으로 가는 매핑을 직접 학습하므로, Q 의존성이 입력에 일관되게 포함되어 있는 한 역산 보정 없이도 올바른 출력을 낸다.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IV. 신호 특성화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4.5 도체–유전체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표적 종류에 따라 근접 정보량이 달라진다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5376059" cy="25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도체 (금속)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와전류 손실이 지배적 → 근접 시 실효 인덕턴스가 크게 감소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ΔL 등고선이 급격히 휘어짐 (그림 3a) → 근접 정보가 강하게 실림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059" y="1332000"/>
            <a:ext cx="5376059" cy="2592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유전체 (손)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유전율 변화에 의한 신호 증폭만 작용 → ΔL이 항상 양수이고 크기도 작음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ΔL 등고선이 거의 수직 (그림 3c) → 인덕턴스가 사실상 인장 센서로만 동작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4068000"/>
            <a:ext cx="11040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→ 유전체 표적에 대한 근접 디커플링은 도체 표적보다 근본적으로 어렵다 — 이후의 모든 모델링은 도체 표적을 대상으로 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IV. 신호 특성화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4.6 TENG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아직 검증하지 않은 확장 지점 — 게이트에는 불필요하지만, 하드웨어에서 계속 유지되는 이유가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11040119" cy="97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5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TDM의 무여기 슬롯이 취득하는 세 번째 신호 — 접촉 순간 전하 이동에 의한 피크로 나타나는 이벤트 신호 (2.2절)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접촉 게이트는 이미 ΔL·ΔR만으로 98 % 이상의 정확도를 달성 (4.1.4절) → 본 연구는 TENG을 디커플러 입력에 포함하지 않았다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340000"/>
            <a:ext cx="1104011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그렇다면 왜 계속 취득하는가 — 두 가지 확장 방향 (1.3절, 5절)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접촉 동역학 · 슬립 감지 — 마찰전기 신호는 상대적 미끄러짐이 있을 때만 발생하는 사건 신호라, 정상상태 L·R 채널과 원리적으로 겹치지 않는 정보를 담는다[31]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재질 식별 — 도체·유전체 간 ΔL 부호 차이(2.2절, 3.4절)에 마찰전기 극성·크기를 더하면 더 넓은 재질 분류로 확장 가능[19],[32]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두 방향 모두 이 연구에서는 구조와 물리적 근거만 제시 — 실험적으로 검증하지 않았다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V. 디커플링 모델과 실시간 추론을 위한 임베디드 구현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V. 디커플링 모델과 임베디드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5.1 디커플링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그렇다면 해석적으로 역산하면 되지 않는가 — 야코비안 역산이 실패하는 두 가지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11040119" cy="82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[ΔR, ΔL]ᵀ  =  J · [Δε, Δd]ᵀ        →        [ε, d]ᵀ  =  [ε₀, d₀]ᵀ + J⁻¹ · [ΔR, ΔL]ᵀ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2340000"/>
            <a:ext cx="309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절단 오차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7999" y="2465999"/>
            <a:ext cx="762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근거리에서는 M² 항이, 대변형에서는 sinh⁻¹ · ln 항이 지배하는 강한 비선형 영역
→ 선형 근사가 국소적으로만 유효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" y="3420000"/>
            <a:ext cx="309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특이점 · 직교성 상실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7999" y="3545999"/>
            <a:ext cx="762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∇R 과 ∇L 의 방향이 가까워지면 det(J) → 0
→ J⁻¹ 발산, 작은 측정 잡음이 크게 증폭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4608000"/>
            <a:ext cx="11040119" cy="1080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실측: 교차항을 포함한 물리식 직접 역산 →  R² = 0.26   (품질 낮은 데이터 포함 시 ε ≈ 0 부근에서 R² = −75 까지 발산)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문제는 정보의 부재가 아니라 역산 방법에 있다 → 순방향 연산만 수행하여 특이점이 원리적으로 발생하지 않고 O(1) 지연으로 동작하는 학습 기반 디커플러 채택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5724000"/>
            <a:ext cx="11040119" cy="612000"/>
          </a:xfrm>
          <a:prstGeom prst="roundRect">
            <a:avLst>
              <a:gd name="adj" fmla="val 6000"/>
            </a:avLst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 i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[그림 필요] det(J) → 0 특이점 부근에서 역산이 발산하는 궤적 (예: ε ≈ 0 근처 R² vs. 데이터 품질 히트맵 또는 산점도) — 아직 별도 플롯으로 만들지 않음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V. 디커플링 모델과 임베디드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5.1 디커플링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디커플링 모델 ① 2단계 구조와 경량화 — 물리적 비대칭을 그대로 구조로 옮긴다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5580000" cy="93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Stage 1 :  ΔR  →  ε̂          Stage 2 :  (ΔL, ε̂)  →  d̂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“저항은 변형률만의 함수”라는 물리 사실을 귀납 편향으로 부여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376000"/>
            <a:ext cx="5580000" cy="29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동일 예산(≈ 50 K 파라미터) 공정 비교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2단계 구조   근접 MAE 1.783 mm  (50,306 par.)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종단 구조     근접 MAE 1.827 mm  (49,592 par.)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오차 구조의 비대칭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변형률 오차는 동분산 — 전 구간에서 균일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근접 오차는 이분산 — d &gt; 10 mm에서 급격히 불안정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→ 이후 모든 평가에서 d ≤ 15 mm, d ≤ 10 mm 구간을 별도 보고</a:t>
            </a:r>
          </a:p>
        </p:txBody>
      </p:sp>
      <p:pic>
        <p:nvPicPr>
          <p:cNvPr id="10" name="Picture 9" descr="fig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000" y="1368000"/>
            <a:ext cx="4860000" cy="3594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16000" y="5922000"/>
            <a:ext cx="50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978 파라미터 medium-deep 이 파레토 무릎 — 50,306 파라미터 모델과 차이 0.09 mm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V. 디커플링 모델과 임베디드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5.1 디커플링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디커플링 모델 ② SLS-EMA + Gate-MoE — 접촉/비접촉은 출력 물리량 자체가 다르다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8" name="Picture 7" descr="fig5_m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1296000"/>
            <a:ext cx="10260000" cy="4041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3348000"/>
            <a:ext cx="1104011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SLS-EMA:  3.3절에서 구한 τ = 1.01 s 를 인과적 지수이동평균 이력 피처로 환원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EMAₙ = EMAₙ₋₁ + α(xₙ − EMAₙ₋₁),   α = 1 − exp(−Δt/τ)   →   곱셈 1회 + 상태 변수 1개, MCU 비용 사실상 0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정답 라벨이 아니라 실시간 ΔL·ΔR 만으로 계산 → 학습 피처를 배포 보드에서 그대로 재현 가능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▶  </a:t>
            </a: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이 피처 하나로 접촉력 RMSE  0.521 N → 0.253 N  (F/T 센서 자체 잡음 ±0.19 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V. 디커플링 모델과 임베디드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5.1 디커플링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절제 실험 — Gate-MoE 와 SLS-EMA 의 기여를 분리한다 (D4, 사이클 단위 held-out)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68000"/>
            <a:ext cx="297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0" y="1368000"/>
            <a:ext cx="153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게이트 정확도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4000" y="1368000"/>
            <a:ext cx="153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변형률 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8000" y="1368000"/>
            <a:ext cx="1605599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근접거리 RMSE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23999" y="1368000"/>
            <a:ext cx="153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접촉력 RMSE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07999" y="1368000"/>
            <a:ext cx="153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파라미터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1908000"/>
            <a:ext cx="297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A:  Gate-MoE + SLS-EMA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19080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1.000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4000" y="19080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0.108 %p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8000" y="1908000"/>
            <a:ext cx="1605599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0.318 mm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23999" y="19080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0.253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07999" y="19080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1,429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2408400"/>
            <a:ext cx="297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B:  SLS-EMA만 (통합)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0" y="24084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84000" y="24084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0.288 %p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8000" y="2408400"/>
            <a:ext cx="1605599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0.322 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3999" y="24084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0.079 mm 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07999" y="24084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1,506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" y="2908800"/>
            <a:ext cx="297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C:  Gate-MoE만 (이력 없음)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0000" y="29088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0.982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84000" y="29088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0.194 %p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8000" y="2908800"/>
            <a:ext cx="1605599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0.410 mm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3999" y="29088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0.521 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07999" y="29088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1,317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00" y="3409200"/>
            <a:ext cx="297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D:  Gate-MoE + GRU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00000" y="34092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1.000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4000" y="34092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0.123 %p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8000" y="3409200"/>
            <a:ext cx="1605599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0.318 mm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23999" y="34092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0.263 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07999" y="34092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1,061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00" y="3999600"/>
            <a:ext cx="1104011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이력 피처(SLS-EMA)의 이득은 접촉력에 집중  —  C→A 에서 힘 RMSE 0.521 → 0.253 N (절반 이하), 변형률은 0.194 → 0.108 %p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게이트–전문가 구조의 기여는 B→A 비교에서  —  통합 모델은 변형률 RMSE 0.288 %p 로 2.7배 나쁨 (접촉/비접촉의 인장 응답이 다르기 때문)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GRU(D)는 정확도 동률이면서 압력 전문가가 306 파라미터로 최소 — 다만 배포는 A 선택 (X-CUBE-AI Dense 지원 성숙, 은닉 상태 관리 불필요)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V. 디커플링 모델과 임베디드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5.2 임베디드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sklearn → ONNX → stedgeai → STM32,  매 TDM 주기마다 온보드 추론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68000"/>
            <a:ext cx="2829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000" y="1368000"/>
            <a:ext cx="2685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 INT8 (초기)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1368000"/>
            <a:ext cx="2253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medium-deep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96000" y="1368000"/>
            <a:ext cx="3045600" cy="36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MoE (최종)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17820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파라미터 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000" y="17820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50,306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7820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978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96000" y="17820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1,413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22644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가중치 ROM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000" y="22644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~52 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22644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3,912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6000" y="22644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5.66 KB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27468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활성화 SRAM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000" y="27468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15.3 KB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7468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288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96000" y="27468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368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2292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전체 플래시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000" y="32292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112.5 KB (85.8 %)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2000" y="32292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~68 KB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96000" y="32292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83.5 KB (65.2 %)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37116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추론 지연 (DWT 실측)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000" y="37116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1,068 µs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2000" y="37116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141 µs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6000" y="37116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260 µs (p95 263 µs)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00" y="41940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 ms 주기 내 완결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56000" y="41940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2000" y="41940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96000" y="41940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00" y="4766400"/>
            <a:ext cx="11040119" cy="827999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지연 산포가 2 µs 수준  →  결정론적 제어 루프에 사용 가능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동일 추론을 PC에서 수행하면 USB 왕복 20–40 ms, 지터 ±5–15 ms  →  이 시스템에서 엣지 추론은 성능 최적화가 아니라 실시간 동작을 위한 요건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V. 디커플링 모델과 임베디드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5.2 임베디드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실기에서만 드러난 실패 모드 — 오프라인 지표만으로는 임베디드 성능을 담보할 수 없다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11040119" cy="576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오프라인 held-out 게이트 정확도 100.0 %  →  그런데 실기에서 “뗀 뒤에도 계속 접촉으로 판정”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052000"/>
            <a:ext cx="110401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원인 — 학습 조건과 배포 조건의 불일치가 만든 자기강화 루프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" y="248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2563200"/>
            <a:ext cx="1044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접촉을 해제하면 원시 ΔL·ΔR 은 즉시 변한다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2970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8000" y="3049200"/>
            <a:ext cx="1044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그러나 EMA 는 τ ≈ 1 s 동안 “눌린 값”에 머문다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456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3535200"/>
            <a:ext cx="1044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게이트가 그 오래된 EMA 를 함께 보고 계속 “접촉”으로 판단한다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000" y="3942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8000" y="4021200"/>
            <a:ext cx="1044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판단이 바뀌지 않으니 EMA 리셋 조건도 걸리지 않는다  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4518000"/>
            <a:ext cx="110401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학습 시엔 정답 라벨(z)로 EMA 를 정확한 순간에 리셋할 수 있었지만, 배포 보드엔 그 정답이 없다.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5004000"/>
            <a:ext cx="11040119" cy="1116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1F77B4"/>
                </a:solidFill>
                <a:latin typeface="맑은 고딕"/>
                <a:ea typeface="맑은 고딕"/>
                <a:cs typeface="맑은 고딕"/>
              </a:rPr>
              <a:t>해결 — 게이트를 EMA 없는 2입력 구조로 되돌림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접촉 여부는 본래 즉각적인 물리적 전환이라 평활할 이유가 없다. 오프라인 정확도는 100.0 % → 98.2 % 로 낮아졌지만 실기 동작은 정상화되었다.
회귀 정확도에 실제로 도움이 되는 전문가 A·B 는 4입력 유지.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V. 디커플링 모델과 임베디드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5.3 실시간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실기 실시간 검증 — 학습과 무관한 별도 세션 · PC 후처리 추론 없음 (세션 0819-153948, 809 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pic>
        <p:nvPicPr>
          <p:cNvPr id="8" name="Picture 7" descr="fig6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59" y="1224000"/>
            <a:ext cx="6485858" cy="464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6030001"/>
            <a:ext cx="110401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Part 1 (0–398 s) 변형률 고정 · 근접 반복 왕복    |    Part 2 (400–730 s) 근접 고정 · 변형률 스윕    |    Part 3 (738 s~) 두 축 동시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V. 디커플링 모델과 임베디드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5.3 실시간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구간별 결과 — 각 축이 단독으로 변할 때와 동시에 변할 때를 분리해 관찰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pic>
        <p:nvPicPr>
          <p:cNvPr id="8" name="Picture 7" descr="fig7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332000"/>
            <a:ext cx="5940000" cy="19857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39999" y="1476000"/>
            <a:ext cx="2109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9999" y="1476000"/>
            <a:ext cx="99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변형률 R²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43999" y="1476000"/>
            <a:ext cx="1065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근접거리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9999" y="1476000"/>
            <a:ext cx="885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접촉력 R²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9999" y="2016000"/>
            <a:ext cx="2109600" cy="413999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Part 1 — 근접만 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9999" y="2016000"/>
            <a:ext cx="993600" cy="413999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0.981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43999" y="2016000"/>
            <a:ext cx="1065600" cy="413999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0.940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9999" y="2016000"/>
            <a:ext cx="885600" cy="413999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0.430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9999" y="2480399"/>
            <a:ext cx="2109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Part 2 — 인장만 변화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9999" y="2480399"/>
            <a:ext cx="993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0.492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3999" y="2480399"/>
            <a:ext cx="1065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−0.797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59999" y="2480399"/>
            <a:ext cx="885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9999" y="2944798"/>
            <a:ext cx="2109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Part 3 — 동시 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9999" y="2944798"/>
            <a:ext cx="993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0.602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43999" y="2944798"/>
            <a:ext cx="1065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−2.051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9999" y="2944798"/>
            <a:ext cx="885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999" y="3517197"/>
            <a:ext cx="5256000" cy="29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Part 1 — 세 물리량 모두 잘 복원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변형률 RMSE 1.37 %p · 근접 RMSE 2.11 mm
게이트 정확도 98.3 %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Part 2 · 3 — 근접 R² 가 음수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근접이 준정적이라 정답의 분산 자체가 매우 작다.
R² = 1 − RMSE²/Var(y) 이므로 분모가 작으면
절대 오차가 작아도 R² 가 크게 나빠진다.
(Part 2 RMSE 6.19 mm — Part 1의 3배 수준)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그럼에도 저하는 실재 — 근접이 준정적일 때 인덕턴스에 남는 정보가 잡음 수준으로 줄어든다.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VI. 결론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VI.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6.1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무엇이 가능해졌고, 무엇이 남았는가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5412059" cy="3816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 i="0">
                <a:solidFill>
                  <a:srgbClr val="2C7A2C"/>
                </a:solidFill>
                <a:latin typeface="맑은 고딕"/>
                <a:ea typeface="맑은 고딕"/>
                <a:cs typeface="맑은 고딕"/>
              </a:rPr>
              <a:t>가능한 것</a:t>
            </a: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두 가닥 배선으로 1 kHz 3신호 취득 — 상용 부품 + 6층 기판만으로 구현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R–ε 단독 의존 비대칭이 실제로 성립 → 동일 예산에서 종단 모델보다 우수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1,413 파라미터로 3 물리량 동시 추정, 260 µs 결정론적 지연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점탄성처럼 방해가 될 것 같던 현상도 물리 모델화하면 오히려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4059" y="1296000"/>
            <a:ext cx="5412059" cy="38160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근접 추정은 도체 표적에서만 실용적 — 유전체 표적에서는 신호가 미약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근접이 준정적인 구간에서 SNR이 무너져 R²가 음수로 떨어짐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접촉력 오차가 F/T 센서 자체의 잡음 바닥(±0.19 N)에 근접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3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TENG은 게이트엔 불필요 — 슬립·재질식별 같은 다른 역할은 아직 미검증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VI.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6.1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40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4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단일 전극에서 3종 신호 동시 취득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두 가닥 EGaIn 나선 코일 · 1 ms TDM · 1 kHz · CPU 유휴율 93.9 %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221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25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디커플링의 물리적 근거를 실측으로 확인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R 은 ε 에만, L 은 (ε, d) 에 의존 — ∇L 과 ∇R 이 전역적으로 선형 독립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302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306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접촉 영역 물리를 규명하고 모델에 환원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SLS 점탄성 τ ≈ 1.0 s → 인과적 EMA 이력 피처 / Q-factor 겉보기 효과 규명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383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387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1,413 파라미터 모델을 STM32 에 임베딩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매 TDM 주기마다 온보드 추론 260 µs (p95 263 µs), 지연 산포 약 2 µs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464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468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실기 성능을 한계와 함께 보고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Part 1: 변형률 R² 0.981 · 근접 R² 0.940 · 게이트 98 % / 준정적 구간 저하는 그대로 보고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VI.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6.2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04000"/>
            <a:ext cx="75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8000" y="1476000"/>
            <a:ext cx="996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AC 등가 직렬 저항 R_s 추가 취득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같은 TDM 슬롯에서 R_s 까지 얻으면 응답 시그니처가 완성되어 도체/유전체를 부호로 구분할 수 있고, Q-factor 보정도 직접 가능해진다.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2448000"/>
            <a:ext cx="75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8000" y="2520000"/>
            <a:ext cx="996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다중 주파수 임피던스 측정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여러 주파수에서 임피던스 실수부·허수부를 얻으면 재질 구분과 근접 추정을 동시에 개선. 준정적 구간 문제도 추가 채널로 완화될 여지.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" y="3492000"/>
            <a:ext cx="75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(iii)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8000" y="3564000"/>
            <a:ext cx="996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2차원 변형 분해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ΔL = f(Δl, ΔA, Δd) 인 반면 ΔR = f(Δl) → L 과 R 이 서로 다른 유효 고유 방향을 갖는다. 십자형 시편과 4축 대칭 스테이지는 이미 준비 완료.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4536000"/>
            <a:ext cx="75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(iv)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8000" y="4608000"/>
            <a:ext cx="996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순환 구조로의 전환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맑은 고딕"/>
                <a:ea typeface="맑은 고딕"/>
                <a:cs typeface="맑은 고딕"/>
              </a:rPr>
              <a:t>GRU 가 306 파라미터로 EMA 기반과 동등한 정확도. X-CUBE-AI 순환 레이어 지원 · 은닉 상태 리셋 · 양자화 안정성을 보드에서 검증하는 것이 다음 과제.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216000"/>
            <a:ext cx="682105" cy="720000"/>
          </a:xfrm>
          <a:prstGeom prst="rect">
            <a:avLst/>
          </a:prstGeom>
        </p:spPr>
      </p:pic>
      <p:pic>
        <p:nvPicPr>
          <p:cNvPr id="3" name="Picture 2" descr="logo_bi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19" y="216000"/>
            <a:ext cx="985263" cy="7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1728000"/>
            <a:ext cx="11040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 i="0">
                <a:solidFill>
                  <a:srgbClr val="8C1D40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096000"/>
            <a:ext cx="2880000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56000" y="30960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3384000"/>
            <a:ext cx="11040119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고려대학교 기계공학과 BioRobotics &amp; Control (BiRC) 연구실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고려대학교 기계공학과</a:t>
            </a:r>
          </a:p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1600" b="0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고려대학교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202020"/>
                </a:solidFill>
                <a:latin typeface="맑은 고딕"/>
                <a:ea typeface="맑은 고딕"/>
                <a:cs typeface="맑은 고딕"/>
              </a:rPr>
              <a:t>문희준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