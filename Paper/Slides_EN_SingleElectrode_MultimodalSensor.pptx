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16000"/>
            <a:ext cx="682105" cy="720000"/>
          </a:xfrm>
          <a:prstGeom prst="rect">
            <a:avLst/>
          </a:prstGeom>
        </p:spPr>
      </p:pic>
      <p:pic>
        <p:nvPicPr>
          <p:cNvPr id="3" name="Picture 2" descr="logo_bi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19" y="216000"/>
            <a:ext cx="985263" cy="7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1728000"/>
            <a:ext cx="1104011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44546A"/>
                </a:solidFill>
                <a:latin typeface="Segoe UI"/>
                <a:ea typeface="Segoe UI"/>
                <a:cs typeface="Segoe UI"/>
              </a:rPr>
              <a:t>Time-Division Measurement and Embedded-AI Signal Decoupling for a Soft Single-Electrode Multimodal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096000"/>
            <a:ext cx="2880000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56000" y="30960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3384000"/>
            <a:ext cx="11040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Bio-Robotics and Control (BiRC) Lab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Department of Mechanical Engineering</a:t>
            </a:r>
          </a:p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Korea University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HeeJun Moon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13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Introduction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1.1 Background · 1.2 Limitations of Current Research · 1.3 Purpose and Significance of This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21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000" y="22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Sensor Design and Fabrication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2.1 Sensor Design · 2.2 Mechanical and Electromagnetic Characteristics · 2.3 Sensor Fabrication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30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31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Measurement System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3.1 Time-Division Measurement (TDM) Architecture · 3.2 Multisignal Switching PCB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39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000" y="40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Signal Characterization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4.1 Experimental Setup · 4.2 Data Acquisition · 4.3 Non-Contact Mode: Strain–Proximity · 4.4 Contact Mode: Strain–Pressure · 4.5 Conductor–Dielectric · 4.6 TENG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48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49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Decoupling Model and Embedded Implementation for Real-Time Inference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5.1 Decoupling Model · 5.2 Embedded Implementation · 5.3 Real-Time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5796000"/>
            <a:ext cx="612000" cy="75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000" y="5803200"/>
            <a:ext cx="10260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Conclusion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6.1 Summary · 6.2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1.1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robot surface must perceive both its surroundings and its own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1F77B4"/>
                </a:solidFill>
                <a:latin typeface="Segoe UI"/>
                <a:ea typeface="Segoe UI"/>
                <a:cs typeface="Segoe UI"/>
              </a:rPr>
              <a:t>Before contact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approach of an object
must be sensed in advance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F77B4"/>
                </a:solidFill>
                <a:latin typeface="Segoe UI"/>
                <a:ea typeface="Segoe UI"/>
                <a:cs typeface="Segoe UI"/>
              </a:rPr>
              <a:t>Proximity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039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D62D2D"/>
                </a:solidFill>
                <a:latin typeface="Segoe UI"/>
                <a:ea typeface="Segoe UI"/>
                <a:cs typeface="Segoe UI"/>
              </a:rPr>
              <a:t>At contact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How hard the contact is
must be known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D62D2D"/>
                </a:solidFill>
                <a:latin typeface="Segoe UI"/>
                <a:ea typeface="Segoe UI"/>
                <a:cs typeface="Segoe UI"/>
              </a:rPr>
              <a:t>Contact 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079" y="1368000"/>
            <a:ext cx="3536039" cy="201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FF8C00"/>
                </a:solidFill>
                <a:latin typeface="Segoe UI"/>
                <a:ea typeface="Segoe UI"/>
                <a:cs typeface="Segoe UI"/>
              </a:rPr>
              <a:t>At all times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body carrying the sensor
itself deforms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8C00"/>
                </a:solidFill>
                <a:latin typeface="Segoe UI"/>
                <a:ea typeface="Segoe UI"/>
                <a:cs typeface="Segoe UI"/>
              </a:rPr>
              <a:t>Strain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3708000"/>
            <a:ext cx="11040119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 real interaction, however, all three stimuli act simultaneously.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→ A sensor measuring only one physical quantity has limited practical utility.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→ Distinct stimuli superimpose onto a single electrical response  =  signal coupling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1.1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The case made by prior work — why each modality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Proximity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1999" y="1350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only means of intervening before a collision occurs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Safe pHRI: reacting after contact is insufficient → anticipate the approach and correct the trajectory [6], [7]
• Sensors over the whole arm exterior for full-surface collision avoidance [8]; quasi whole-body sensing [9]
• Pre-shaping the hand before it reaches the 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2682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D6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Contact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1999" y="2736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Grasp stability depends directly on the applied force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Without tactile feedback an object is dropped, or damaged by excessive force [10]
• Slip leads immediately to grasp failure unless detected and corrected quickly [11]
• Proximity answers when contact occurs; force answers how hard [12]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4068000"/>
            <a:ext cx="1296000" cy="1260000"/>
          </a:xfrm>
          <a:prstGeom prst="roundRect">
            <a:avLst>
              <a:gd name="adj" fmla="val 6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999" y="4122000"/>
            <a:ext cx="9456119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Essential whenever the body carrying the sensor deforms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Soft robots have effectively infinite DOF → accurate open-loop control is very difficult [13]
• Proprioception is a precondition for closing the control loop [14]
• Liquid-metal strain sensors enabling closed-loop soft crawling robots [15]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1.1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Why they must be measured together, at one point — the three modalities are not independent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332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On a deforming surface, the very reference for the proximity and contact signals shifts with the deformation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72000"/>
            <a:ext cx="11040119" cy="126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Measured: the strain state changes the pressure sensitivity by up to 6.6×  (cross-sensitivity)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At ε = 0 %,  loading to 10 N   →  ΔR/R₀ span  3.95 %p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At ε = 30 %, loading to 9.2 N  →  ΔR/R₀ span  26.14 %p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312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→ Without knowing the strain, a given resistance change cannot be mapped to a contact force.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5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Measuring the three quantities with three separate sensors does not remove this coupling.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5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It merely adds the problem of registering values measured at different locations.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▶  </a:t>
            </a: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Acquire the three signals at the very point where the coupling arises, and decouple them jointly.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1.2 Limitations of Current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Fundamental Challenge — every arrangement runs into one of three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Array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Cross-talk · wiring ·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Wiring grows with the device count, cross-talk arises between neighbouring elements, and more area is needed [34],[35]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039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039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Delamination · cross-talk · wiring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039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Wiring and cross-talk problems remain, and interlayer delamination is added as a new failure mode [36],[37]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079" y="1296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Single-Device Decoupling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079" y="1836000"/>
            <a:ext cx="3536039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Avoids wiring, area and delamination — but…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079" y="2484000"/>
            <a:ext cx="332003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Decoupling itself becomes hard, limiting most designs to only strain or only proximity [16]–[18],[21]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5004000"/>
            <a:ext cx="11040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→ The wiring/cross-talk/delamination problems and the decoupling problem stem from different causes — a design that avoids one tends to inherit the other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1.2 Limitations of Current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Limitations of prior work and how this work responds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60000"/>
            <a:ext cx="282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000" y="1260000"/>
            <a:ext cx="408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Limitation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6000" y="1260000"/>
            <a:ext cx="3945600" cy="36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Response in this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16740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Distributed rigid proximity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000" y="16740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Cannot conform to curved or deformable
surfaces; wire count ∝ sensor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96000" y="16740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single planar, stretchable coil
with a two-wire electrode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23436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Capacitive proximity + tactile sensors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000" y="23436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Strain and proximity appear as the same
capacitance change — hard to separate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6000" y="23436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Exploits the asymmetry: L depends on
(ε, d) while R depends on ε alone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30132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Inductive soft sensors (single modality)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000" y="30132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Use only strain or only proximity
because decoupling is hard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6000" y="30132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Estimates all three simultaneously
from the same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6828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Hybrid integration of multiple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000" y="36828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Wiring, thickness and cross-talk
grow with the device 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6000" y="36828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Time-shares one device with a 1 ms
TDM schedule instead of adding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" y="43524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Inductance measured with an LCR meter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000" y="43524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Requires benchtop instrumentation;
not mobile or wearable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6000" y="43524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Replaced by a 65 × 52 mm board
carrying an LDC1614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5022000"/>
            <a:ext cx="282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PC-based AI decoupling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000" y="5022000"/>
            <a:ext cx="4089600" cy="619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20–40 ms USB round trip, ±5–15 ms jitter
→ feedback control impossible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6000" y="5022000"/>
            <a:ext cx="3945600" cy="6192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On-board MCU inference at 260 µs
with ~2 µs spread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1.3 Purpose and Significance of This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Why a flexible, single-device sensor is needed — flexibility alone is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1040119" cy="1655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① The mounting surface is curved and undergoes large deformation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An array of rigid sensors cannot conform to such a surface, and the stiffness discontinuities between elements actively impede deformation. Flexible sensors permit conformal contact and large deformation, extending to wearable applications [4],[16].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3096000"/>
            <a:ext cx="11040119" cy="1872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② But implementing three modalities as three devices multiplies the wiring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Wiring grows in proportion to the device count, and stacking brings added thickness, delamination risk and cross-talk between neighbouring elements [1],[5]. In large-area electronic skin, this wiring complexity has been identified as a principal bottleneck to practical deployment.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→ The approach adopted here: divide one device in time rather than multiply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1.3 Purpose and Significance of This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Our approach — three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① Single electrode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Divide one device in time
rather than multiplying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One EGaIn spiral coil, two wires
• Device cross-talk cannot arise
• Wire count stays 2 regardless of the
   number of modalities
• Planarity and stretchability preserved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039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② 1 ms TDM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039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Apply AC excitation, DC excitation
and no excitation in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6039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AC → resonant frequency (L)
• DC → voltage divider (R)
• None → floating coil (TENG V)
• 1 kHz acquisition, 93.9 % CPU idle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079" y="1332000"/>
            <a:ext cx="3536039" cy="468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③ Embedded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079" y="1872000"/>
            <a:ext cx="3536039" cy="864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Complete both measurement and
inference inside the MCU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079" y="2880000"/>
            <a:ext cx="3320039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• Analytical inversion diverges at
   singularities
• PC inference costs a 20–40 ms round trip
• 1,413-parameter model on the STM32
• Measured 260 µs, inside the 1 ms cycle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II. Sensor Design and Fabrication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II. Sensor Design and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2.1 Sensor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EGaIn liquid-metal planar rectangular spiral coil (120 mm initial length, 0–30 % strain)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pic>
        <p:nvPicPr>
          <p:cNvPr id="8" name="Picture 7" descr="fig0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60000"/>
            <a:ext cx="7380000" cy="49058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08000" y="1368000"/>
            <a:ext cx="3456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planar rectangular spiral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EGaIn liquid metal is printed onto an elastomer substrate by direct ink writing (DIW).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The conductive path survives large deformation, allowing repeated use up to 30 % strain.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One device, two roles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The coil geometry lets a single conductive trace act simultaneously as a resistive element and an inductor.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II. Sensor Design and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2.2 Mechanical and Electromagnetic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Response signature of each stimulus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174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Stimulus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6000" y="1296000"/>
            <a:ext cx="741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8000" y="1296000"/>
            <a:ext cx="102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R_s (AC)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000" y="1296000"/>
            <a:ext cx="885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R_DC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4000" y="1296000"/>
            <a:ext cx="1029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V_TENG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4000" y="1296000"/>
            <a:ext cx="5277600" cy="324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Dominant mechanism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16740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Stretching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6000" y="16740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8000" y="16740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8000" y="16740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000" y="16740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4000" y="16740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length ↑, section ↓ → R ↑ ;  coil geometry → L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1276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Conductor approach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6000" y="21276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276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8000" y="21276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4000" y="21276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4000" y="21276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eddy-current loss → reflected impedance (attenuation)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25812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Dielectric approach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6000" y="25812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68000" y="25812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8000" y="25812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000" y="25812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4000" y="25812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permittivity change / field redistribution (amplification)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30348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Contact (charged body)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6000" y="30348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0" y="30348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8000" y="30348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4000" y="30348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4000" y="30348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triboelectric charge transfer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3488400"/>
            <a:ext cx="174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Compression (bumps)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6000" y="3488400"/>
            <a:ext cx="741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↓*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68000" y="34884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48000" y="3488400"/>
            <a:ext cx="885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84000" y="3488400"/>
            <a:ext cx="1029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4000" y="3488400"/>
            <a:ext cx="5277600" cy="40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local section ↓ ;  Q ↓ → apparent L ↑</a:t>
            </a:r>
          </a:p>
        </p:txBody>
      </p:sp>
      <p:pic>
        <p:nvPicPr>
          <p:cNvPr id="44" name="Picture 43" descr="seminar_response_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4050000"/>
            <a:ext cx="2813592" cy="2484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56000" y="4122000"/>
            <a:ext cx="5460119" cy="23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ΔL has opposite signs for conductors and dielectrics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→ not a nuisance, but information for identifying an object's electrical property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II. Sensor Design and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2.3 Sensor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four-step process completed by bridging and a bump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pic>
        <p:nvPicPr>
          <p:cNvPr id="8" name="Picture 7" descr="seminar_fabr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59" y="1224000"/>
            <a:ext cx="9900000" cy="48690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6084000"/>
            <a:ext cx="9888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Key step: bridging (routing the inner terminal out over the windings to complete a two-wire structure)  ·  the bump array lowers the load for a 100 % ΔR/R₀ response from 210 N to 20 N (about 10×)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III. Measurement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III. Measurement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3.1 Time-Division Measurement (TDM)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AC excitation, DC excitation and no excitation cycled with a 1 ms period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pic>
        <p:nvPicPr>
          <p:cNvPr id="8" name="Picture 7" descr="fig1_t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59" y="1224000"/>
            <a:ext cx="6189943" cy="42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5814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A TIM7 interrupt starts both paths → I²C DMA (LDC1614, ~200 µs) in parallel with ADC DMA (TENG 150 µs → R 150 µs)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All transfers use DMA → no blocking wait · 93.9 % CPU idle · a fixed period prevents jitter when coupled to the AI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III. Measurement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3.2 Multisignal Switching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dedicated six-layer board designed in EasyEDA Pro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pic>
        <p:nvPicPr>
          <p:cNvPr id="8" name="Picture 7" descr="seminar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00" y="1260000"/>
            <a:ext cx="3363750" cy="41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1404000"/>
            <a:ext cx="7128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STM32G473CBT6 — Cortex-M4F 170 MHz, 128 KB flash, 32 KB SRAM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LDC1614 — 28-bit, 1 kHz–10 MHz, I²C2 at 0x2A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ADG734 — 4-channel analog switch, t_on 29 ns, 200 MHz BW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65 × 52 mm six-layer board, up to a 4-channel array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TVS diodes protecting the TENG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4.1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Five-axis symmetric tensile stage — an in-house symmetric tensile-and-proximity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404000"/>
            <a:ext cx="6480000" cy="26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Four symmetric tensile axes (XA/XB/YA/YB) + an independent Z proximity axis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700 × 700 mm frame, Nema23 + TB6600 drivers, Arduino Uno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320 steps/mm, PyQt5 GUI driving the sequence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Six-axis F/T sensor over CAN recording ground-truth force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PC-MCU time sync + automatic is_steady tagging of accel/decel transients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4000" y="1404000"/>
            <a:ext cx="4272119" cy="2628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Why not a commercial tensile tester?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 single-sided tension the specimen centre translates as it elongates. The proximity target must sit directly above the coil centre, so that translation becomes an error in the distance label.</a:t>
            </a:r>
          </a:p>
        </p:txBody>
      </p:sp>
      <p:pic>
        <p:nvPicPr>
          <p:cNvPr id="10" name="Picture 9" descr="seminar_test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59" y="4104000"/>
            <a:ext cx="4767233" cy="230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4.2 Data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Model inputs are always only (ΔL/L₀, ΔR/R₀); positions and forces are used solely as ground-truth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813600" cy="342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1332000"/>
            <a:ext cx="4845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000" y="1332000"/>
            <a:ext cx="2541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8000" y="1332000"/>
            <a:ext cx="2613600" cy="342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17280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17280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37 strain levels + continuous 50→0 mm proximity (asynchronous)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17280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≈ 78,000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8000" y="17280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Initial two-stage PINN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24444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4444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P1: 19 strain levels × proximity sweep
P2: 13 proximity levels × strain sweep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000" y="24444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metal 45,633 rows
hand 37,116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000" y="24444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Characterizing the (ε, d) response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1608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31608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Two continuous simultaneous sweeps, PC-MCU synchronized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000" y="31608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188,232 rows
→ 33,450 after preprocessing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8000" y="31608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Training the proximity + strain decoupler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8772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40000" y="38772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19 strain levels × proximity-to-contact traverse with F/T recording (up to 10.1 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000" y="38772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51,858 rows / 569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000" y="38772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Contact physics analysis · MoE training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4593600"/>
            <a:ext cx="813600" cy="666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40000" y="4593600"/>
            <a:ext cx="4845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Three on-hardware sessions (Part 1 proximity / Part 2 strain / Part 3 both)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000" y="4593600"/>
            <a:ext cx="2541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26.7k / 34.0k / 32.6k rows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8000" y="4593600"/>
            <a:ext cx="2613600" cy="66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Embedded real-time validation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4.3 Non-Contact Mode: Strain–Proximity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The (ε, d) response surfaces — the physical reason decoupling is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pic>
        <p:nvPicPr>
          <p:cNvPr id="8" name="Picture 7" descr="fig2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60000"/>
            <a:ext cx="7200000" cy="4717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64000" y="1404000"/>
            <a:ext cx="3600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Metal target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2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ΔR contours are essentially parallel to the distance axis
→ resistance depends on strain alone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2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ΔL contours bend sharply for d &lt; 10 mm
→ at fixed strain it swings from −15.7 % to +14.5 %, changing 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000" y="3636000"/>
            <a:ext cx="3600000" cy="93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∇L and ∇R are globally linearly independent
→ direct evidence that decoupling is feasible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4.4 Contact Mode: Strain–Pressure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New physics appears when the contact modality is added — hysteresis, creep and cross-sensitivity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pic>
        <p:nvPicPr>
          <p:cNvPr id="8" name="Picture 7" descr="fig3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332000"/>
            <a:ext cx="10980000" cy="3540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3492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During a constant-depth dwell, ΔL drifts a further 2.33 %p and ΔR 5.73 %p → residuals after unloading are only 0.57 %p and 0.08 %p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So most of it is a reversible time-lag component, not permanent damage → consistent with a standard linear solid (SLS) model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▶  </a:t>
            </a: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Exponential relaxation fit over the dwell →  τ = 0.93 s   (channel-wise: τ_L 1.33 s, τ_R 0.59 s; combined τ = 1.01 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4.4 Contact Mode: Strain–Pressure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Why inductance appears to rise under compression — an inversion artefact caused by the falling Q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61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Q  =  ω · (max. stored energy / energy dissipated per cycle)  =  X / R_s  =  ω L / R_s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0880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sensor is 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000" y="22139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L ↓ ,  R_DC ↑ ,  R_eddy 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27288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Q falls sharply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000" y="28547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Q = ω L / R_s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33696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true resonant frequency drops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000" y="34955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f = 1/(2π√(LC)) · √(1 − 1/Q²)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00" y="40104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But we invert with the approximation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000" y="41363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f ≈ 1/(2π√(LC)) ,  ΔL/L₀ = f₀²/f² − 1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4651200"/>
            <a:ext cx="4320000" cy="54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L is reported as having increased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000" y="4777199"/>
            <a:ext cx="61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an artefact — not a genuine rise in inductance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5400000"/>
            <a:ext cx="11040119" cy="75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No correction was applied. The learned decoupler maps (ΔL, ΔR) directly onto the target quantities, so as long as the Q dependence is consistently present in its inputs it produces correct outputs without an explicit inversion correction — a practical advantage over analytical inversion.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4.5 Conductor–Dielectric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How much proximity information survives depends on the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5376059" cy="25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Conductor (metal)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Eddy-current loss dominates → the effective inductance drops substantially on approach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ΔL contours bend sharply (Fig. 3a) → proximity information is strongly carried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059" y="1332000"/>
            <a:ext cx="5376059" cy="2592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Dielectric (hand)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Only permittivity-driven signal amplification acts → ΔL stays positive and small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ΔL contours are nearly vertical (Fig. 3c) → the inductance behaves essentially as a strain sensor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068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→ Proximity decoupling for dielectric targets is fundamentally harder than for conductive ones — all subsequent modelling targets the conductive case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IV. Signal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4.6 TENG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An unvalidated extension — unnecessary for the gate, but retained in hardware for a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97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5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third signal, acquired in the no-excitation slot — an event signal that peaks on charge transfer at the instant of contact (Section 2.2)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The contact gate already reaches over 98 % accuracy from ΔL and ΔR alone (Section 4.1.4) → TENG was not included as a decoupler input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340000"/>
            <a:ext cx="11040119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So why keep acquiring it? Two extension directions (Sections 1.3, 5)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Contact dynamics · slip sensing — a triboelectric signal is an event signal that arises only under relative sliding motion, carrying information the steady-state L and R channels cannot [31]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Material identification — combining the ΔL sign difference between conductors and dielectrics (Sections 2.2, 3.4) with triboelectric polarity and magnitude may extend this to broader material classification [19],[32]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Neither direction is evaluated experimentally here — both are presented only at the level of structure and physical rationale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V. Decoupling Model and Embedded Implementation for Real-Time Inference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5.1 Decoupling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Why not simply invert the relations analytically? — two reasons Jacobian inversion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82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[ΔR, ΔL]ᵀ  =  J · [Δε, Δd]ᵀ        →        [ε, d]ᵀ  =  [ε₀, d₀]ᵀ + J⁻¹ · [ΔR, ΔL]ᵀ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340000"/>
            <a:ext cx="309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① Truncation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7999" y="2465999"/>
            <a:ext cx="762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near field is dominated by the M² term and large strain by sinh⁻¹ and ln terms
→ the linear approximation is valid only locally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3420000"/>
            <a:ext cx="309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② Singularity / loss of orthogonality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7999" y="3545999"/>
            <a:ext cx="762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As the directions of ∇R and ∇L converge, det(J) → 0
→ J⁻¹ diverges and small measurement noise is greatly amplified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608000"/>
            <a:ext cx="11040119" cy="1080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Measured: direct inversion of the physics expression with the cross term →  R² = 0.26   (diverging to R² = −75 near ε ≈ 0 with lower-quality data)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problem lies in the inversion method, not in missing information → adopt a learned decoupler that performs only forward operations, so singularities cannot arise, and runs with O(1)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5724000"/>
            <a:ext cx="11040119" cy="612000"/>
          </a:xfrm>
          <a:prstGeom prst="roundRect">
            <a:avLst>
              <a:gd name="adj" fmla="val 6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1" i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[Figure needed] The inversion's divergence trajectory near the det(J) → 0 singularity (e.g. R² vs. data quality near ε ≈ 0, as a heatmap or scatter plot) — not yet produced as a standalone figure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5.1 Decoupling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Decoupling model ① two-stage structure — the physical asymmetry, transferred directly into the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5580000" cy="93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Stage 1 :  ΔR  →  ε̂          Stage 2 :  (ΔL, ε̂)  →  d̂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Imposes the physical fact that resistance is a function of strain alone, as an inductive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376000"/>
            <a:ext cx="5580000" cy="29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Fair comparison at an equal budget (≈ 50 K parameters)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Two-stage      proximity MAE 1.783 mm  (50,306 par.)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End-to-end    proximity MAE 1.827 mm  (49,592 par.)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Asymmetry in the error structure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Strain error is homoscedastic — uniform across the range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Distance error is heteroscedastic — unstable beyond d = 10 mm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→ d ≤ 15 mm and d ≤ 10 mm are reported separately hereafter</a:t>
            </a:r>
          </a:p>
        </p:txBody>
      </p:sp>
      <p:pic>
        <p:nvPicPr>
          <p:cNvPr id="10" name="Picture 9" descr="fig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00" y="1368000"/>
            <a:ext cx="4860000" cy="3594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6000" y="5922000"/>
            <a:ext cx="50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The 978-parameter medium-deep sits at the Pareto knee — within 0.09 mm of the 50,306-parameter model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5.1 Decoupling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Decoupling model ② SLS-EMA + Gate-MoE — contact and non-contact differ in the very quantities to be 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pic>
        <p:nvPicPr>
          <p:cNvPr id="8" name="Picture 7" descr="fig5_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296000"/>
            <a:ext cx="10260000" cy="4041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33480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SLS-EMA: the τ = 1.01 s obtained in Section 3.3 is reduced to a causal exponential-moving-average history feature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EMAₙ = EMAₙ₋₁ + α(xₙ − EMAₙ₋₁),   α = 1 − exp(−Δt/τ)   →   one multiplication and one state variable; MCU cost effectively zero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Computed from the live ΔL and ΔR alone, not from labels → the training feature is reproducible exactly on the deployed board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▶  </a:t>
            </a: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This single feature cuts the force RMSE from 0.521 N to 0.253 N (the F/T sensor's own noise is ±0.19 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5.1 Decoupling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Ablation study — separating the contributions of Gate-MoE and SLS-EMA (D4, cycle-wise held-out)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297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0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Gate acc.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000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Strain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8000" y="1368000"/>
            <a:ext cx="1605599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Distance 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3999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Force 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07999" y="1368000"/>
            <a:ext cx="153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" y="19080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A:  Gate-MoE + SLS-EMA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1.000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4000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0.108 %p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8000" y="19080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0.318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3999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0.253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7999" y="19080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1,429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4084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B:  SLS-EMA only (unified)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0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4000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0.288 %p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8000" y="24084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0.322 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3999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0.079 mm 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07999" y="24084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1,506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" y="29088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C:  Gate-MoE only (no history)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0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0.982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84000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0.194 %p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8000" y="29088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0.410 mm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3999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0.521 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07999" y="29088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1,317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3409200"/>
            <a:ext cx="297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D:  Gate-MoE + GRU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00000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4000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0.123 %p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8000" y="3409200"/>
            <a:ext cx="1605599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0.318 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23999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0.263 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07999" y="3409200"/>
            <a:ext cx="1533600" cy="4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1,061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3999600"/>
            <a:ext cx="1104011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benefit of SLS-EMA is concentrated in force  —  from C to A the force RMSE falls 0.521 → 0.253 N (less than half), strain only 0.194 → 0.108 %p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gate-expert structure shows up from B to A  —  the unified model is 2.7× worse in strain RMSE (0.288 %p), because the strain response differs between regimes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GRU (D) ties on accuracy with only 306 parameters for the pressure expert — yet A was deployed (mature dense-layer support in X-CUBE-AI, no hidden state to carry)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5.2 Embedded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sklearn → ONNX → stedgeai → STM32, with on-board inference once per TDM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68000"/>
            <a:ext cx="2829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000" y="1368000"/>
            <a:ext cx="2685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Two-stage INT8 (first)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1368000"/>
            <a:ext cx="2253600" cy="360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medium-deep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96000" y="1368000"/>
            <a:ext cx="3045600" cy="36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MoE (final)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17820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000" y="17820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50,306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7820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978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96000" y="17820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1,413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22644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Weight ROM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000" y="22644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~52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2644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3,912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6000" y="22644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5.66 KB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27468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Activation SRAM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000" y="27468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15.3 KB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7468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288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96000" y="27468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368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2292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Total flash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000" y="32292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112.5 KB (85.8 %)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00" y="32292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~68 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96000" y="32292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83.5 KB (65.2 %)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37116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Inference latency (DWT)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000" y="37116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1,068 µs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37116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141 µs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96000" y="37116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260 µs (p95 263 µs)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00" y="4194000"/>
            <a:ext cx="2829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Completes within 1 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000" y="4194000"/>
            <a:ext cx="2685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2000" y="4194000"/>
            <a:ext cx="2253600" cy="43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96000" y="4194000"/>
            <a:ext cx="3045600" cy="432000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00" y="4766400"/>
            <a:ext cx="11040119" cy="827999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The latency spread is only ~2 µs  →  usable in a deterministic control loop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same inference on a PC costs a 20–40 ms USB round trip with ±5–15 ms jitter  →  edge inference here is a requirement for real-time operation, not an optimization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5.2 Embedded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A failure mode visible only on hardware — offline metrics alone cannot guarantee embedded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332000"/>
            <a:ext cx="11040119" cy="576000"/>
          </a:xfrm>
          <a:prstGeom prst="roundRect">
            <a:avLst>
              <a:gd name="adj" fmla="val 6000"/>
            </a:avLst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Offline held-out gate accuracy 100.0 %  →  yet on hardware the gate kept reporting contact after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052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Cause — a self-reinforcing loop created by the training/deployment mismatch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248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2563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On release, the raw ΔL and ΔR change immediately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2970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8000" y="3049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But the EMA stays at the pressed value for about τ ≈ 1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456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3535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gate, seeing that stale EMA, keeps reporting contact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000" y="3942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000" y="4021200"/>
            <a:ext cx="1044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Its decision never changes, so the EMA reset never triggers  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518000"/>
            <a:ext cx="110401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In training the EMA could be reset at the exact instant using the label z; the deployed board has no such ground truth.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5004000"/>
            <a:ext cx="11040119" cy="1116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1F77B4"/>
                </a:solidFill>
                <a:latin typeface="Segoe UI"/>
                <a:ea typeface="Segoe UI"/>
                <a:cs typeface="Segoe UI"/>
              </a:rPr>
              <a:t>Fix — revert the gate to a two-input form without EMA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Contact is an instantaneous physical transition with no reason to be smoothed. Offline accuracy dropped from 100.0 % to 98.2 %, but behaviour on hardware was restored.
Experts A and B, where history genuinely helps regression, kept their four inputs.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5.3 Real-Time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On-hardware real-time validation — a session separate from training, no post-hoc inference on the PC (session 0819-153948, 809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pic>
        <p:nvPicPr>
          <p:cNvPr id="8" name="Picture 7" descr="fig6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59" y="1224000"/>
            <a:ext cx="6485858" cy="464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00" y="6030001"/>
            <a:ext cx="110401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Part 1 (0–398 s) strain held, proximity swept    |    Part 2 (400–730 s) proximity held, strain swept    |    Part 3 (from 738 s) both axes together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V. Decoupling Model and Embedded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5.3 Real-Time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Part-wise results — isolating the case where each axis varies alone from where both vary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pic>
        <p:nvPicPr>
          <p:cNvPr id="8" name="Picture 7" descr="fig7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332000"/>
            <a:ext cx="5940000" cy="19857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39999" y="1476000"/>
            <a:ext cx="2109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Segment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9999" y="1476000"/>
            <a:ext cx="993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Strain R²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43999" y="1476000"/>
            <a:ext cx="1065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Distance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9999" y="1476000"/>
            <a:ext cx="885600" cy="4860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Force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9999" y="2016000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Part 1 — proximity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999" y="2016000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0.981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3999" y="2016000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0.940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9999" y="2016000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D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0.430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9999" y="2480399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Part 2 — strain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9999" y="2480399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0.492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3999" y="2480399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−0.797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59999" y="2480399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9999" y="2944798"/>
            <a:ext cx="2109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Part 3 — simultaneous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999" y="2944798"/>
            <a:ext cx="993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0.602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3999" y="2944798"/>
            <a:ext cx="106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−2.051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9999" y="2944798"/>
            <a:ext cx="885600" cy="413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999" y="3517197"/>
            <a:ext cx="5256000" cy="29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Part 1 — all three quantities recovered well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Strain RMSE 1.37 %p · distance RMSE 2.11 mm
Gate accuracy 98.3 %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Parts 2 and 3 — the distance R² goes negative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Proximity is quasi-static, so the ground-truth
variance is very small. Since R² = 1 − RMSE²/Var(y),
a small denominator degrades R² even for a modest
absolute error. (Part 2 RMSE 6.19 mm — about 3× Part 1)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degradation is nonetheless real: when proximity is quasi-static, the information left in the inductance falls to the noise level.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709000"/>
            <a:ext cx="10464119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VI. Conclusion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VI.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6.1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849600"/>
            <a:ext cx="110401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What is achievable, and what remains limited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296000"/>
            <a:ext cx="5412059" cy="3816000"/>
          </a:xfrm>
          <a:prstGeom prst="roundRect">
            <a:avLst>
              <a:gd name="adj" fmla="val 6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 i="0">
                <a:solidFill>
                  <a:srgbClr val="2C7A2C"/>
                </a:solidFill>
                <a:latin typeface="Segoe UI"/>
                <a:ea typeface="Segoe UI"/>
                <a:cs typeface="Segoe UI"/>
              </a:rPr>
              <a:t>Achievable</a:t>
            </a: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Three signals at 1 kHz through two wires — built with commercial parts on a six-layer board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R–ε-only asymmetry genuinely holds → outperforms an end-to-end model at equal budget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1,413 parameters estimate three quantities at once, with 260 µs deterministic latency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Even viscoelasticity, which seems to obstruct modelling, improves accuracy once physically modelled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4059" y="1296000"/>
            <a:ext cx="5412059" cy="3816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Limitations</a:t>
            </a: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Proximity estimation is practical only for conductive targets — dielectric targets carry a weak signal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In quasi-static proximity segments the SNR collapses and R² turns negative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contact-force error approaches the F/T sensor's own noise floor (±0.19 N)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•  </a:t>
            </a:r>
            <a:r>
              <a:rPr sz="13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TENG is unnecessary for the gate — other roles such as slip and material identification remain unverified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VI.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6.1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40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44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Three signals acquired simultaneously from one electrode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Two-wire EGaIn spiral coil · 1 ms TDM · 1 kHz · 93.9 % CPU idle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221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25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The physical basis for decoupling confirmed by measurement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R depends on ε alone, L on (ε, d) — ∇L and ∇R are globally linearly independent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302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06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Contact-regime physics identified and folded into the model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SLS viscoelasticity τ ≈ 1.0 s → causal EMA history feature; the Q-factor artefact explained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83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87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 1,413-parameter model embedded on the STM32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On-board inference at 260 µs per TDM cycle (p95 263 µs), ~2 µs spread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4644000"/>
            <a:ext cx="125999" cy="68400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4680000"/>
            <a:ext cx="10608119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On-hardware performance reported together with its limits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Part 1: strain R² 0.981 · distance R² 0.940 · gate 98 %; quasi-static degradation reported as measured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34000"/>
            <a:ext cx="11040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VI.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583200"/>
            <a:ext cx="11040119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6.2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72800"/>
            <a:ext cx="9528119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20119" y="10728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52119" y="6444001"/>
            <a:ext cx="86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8000" y="1476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Also acquire the AC equivalent series resistance R_s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Obtaining R_s in the same TDM slot completes the response signature, letting conductors and dielectrics be told apart by sign and enabling the Q-factor correction to be applied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2448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2520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Multi-frequency impedance measurement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Real and imaginary impedance at several frequencies would improve material discrimination and proximity estimation together, and the extra channels may ease the quasi-static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" y="3492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8000" y="3564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Two-dimensional strain decomposition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ΔL = f(Δl, ΔA, Δd) whereas ΔR = f(Δl) → L and R have different effective eigen-directions. The cruciform specimen and four-axis stage are already in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536000"/>
            <a:ext cx="756000" cy="900000"/>
          </a:xfrm>
          <a:prstGeom prst="roundRect">
            <a:avLst>
              <a:gd name="adj" fmla="val 6000"/>
            </a:avLst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9200" bIns="79200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(iv)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8000" y="4608000"/>
            <a:ext cx="9960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Migration to a recurrent structure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Segoe UI"/>
                <a:ea typeface="Segoe UI"/>
                <a:cs typeface="Segoe UI"/>
              </a:rPr>
              <a:t>The GRU matched the EMA-based models with 306 parameters. Verifying X-CUBE-AI's recurrent-layer support, hidden-state reset and quantization stability on this board is the next task.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16000"/>
            <a:ext cx="682105" cy="720000"/>
          </a:xfrm>
          <a:prstGeom prst="rect">
            <a:avLst/>
          </a:prstGeom>
        </p:spPr>
      </p:pic>
      <p:pic>
        <p:nvPicPr>
          <p:cNvPr id="3" name="Picture 2" descr="logo_bi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19" y="216000"/>
            <a:ext cx="985263" cy="7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1728000"/>
            <a:ext cx="11040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600" b="1" i="0">
                <a:solidFill>
                  <a:srgbClr val="8C1D40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3096000"/>
            <a:ext cx="2880000" cy="3175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56000" y="3096000"/>
            <a:ext cx="1296000" cy="31750"/>
          </a:xfrm>
          <a:prstGeom prst="rect">
            <a:avLst/>
          </a:prstGeom>
          <a:solidFill>
            <a:srgbClr val="C8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3384000"/>
            <a:ext cx="11040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Bio-Robotics and Control (BiRC) Lab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Department of Mechanical Engineering</a:t>
            </a:r>
          </a:p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1600" b="0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Korea University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202020"/>
                </a:solidFill>
                <a:latin typeface="Segoe UI"/>
                <a:ea typeface="Segoe UI"/>
                <a:cs typeface="Segoe UI"/>
              </a:rPr>
              <a:t>HeeJun Moon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