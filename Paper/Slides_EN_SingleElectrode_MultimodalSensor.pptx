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62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1728000"/>
            <a:ext cx="11040119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Time-Division Measurement and Embedded-AI Signal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30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Decoupling for a Soft Single-Electrode Multimodal Sensor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Simultaneous Estimation of Strain, Proximity, and Contact Force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4104000"/>
            <a:ext cx="2880000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00" y="4356000"/>
            <a:ext cx="11040119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Heejun Moon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BioRobotics and Control Lab (BiRC),  Dept. of Mechanical Engineering,  Korea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Outline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3320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13536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Motivation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Why multimodal perception, and what each modality is for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9512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9728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Problem Statement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Signal coupling and the limitations of prior 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25704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25920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Sensor Design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Single-electrode EGaIn spiral coil and fabrication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31896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32112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Measurement System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1 ms TDM architecture, PCB and test platform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00" y="38088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38304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Signal Characterization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(strain, d) response surfaces and contact-regime viscoelasticity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00" y="44280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6000" y="44496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Decoupling Models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Two-stage structure → SLS-EMA + Gate-MoE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50472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50688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Embedded Implementation and Real-Time Validation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260 µs on-board inference on the STM32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56664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6000" y="56880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Conclusion and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A robot surface must perceive both its surroundings and its own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68000"/>
            <a:ext cx="3536039" cy="2015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 i="0">
                <a:solidFill>
                  <a:srgbClr val="1F77B4"/>
                </a:solidFill>
                <a:latin typeface="Segoe UI"/>
                <a:ea typeface="Segoe UI"/>
                <a:cs typeface="Segoe UI"/>
              </a:rPr>
              <a:t>Before contact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5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approach of an object
must be sensed in advance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F77B4"/>
                </a:solidFill>
                <a:latin typeface="Segoe UI"/>
                <a:ea typeface="Segoe UI"/>
                <a:cs typeface="Segoe UI"/>
              </a:rPr>
              <a:t>Proximity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039" y="1368000"/>
            <a:ext cx="3536039" cy="2015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 i="0">
                <a:solidFill>
                  <a:srgbClr val="D62D2D"/>
                </a:solidFill>
                <a:latin typeface="Segoe UI"/>
                <a:ea typeface="Segoe UI"/>
                <a:cs typeface="Segoe UI"/>
              </a:rPr>
              <a:t>At contact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5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How hard the contact is
must be known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D62D2D"/>
                </a:solidFill>
                <a:latin typeface="Segoe UI"/>
                <a:ea typeface="Segoe UI"/>
                <a:cs typeface="Segoe UI"/>
              </a:rPr>
              <a:t>Contact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0079" y="1368000"/>
            <a:ext cx="3536039" cy="2015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 i="0">
                <a:solidFill>
                  <a:srgbClr val="FF8C00"/>
                </a:solidFill>
                <a:latin typeface="Segoe UI"/>
                <a:ea typeface="Segoe UI"/>
                <a:cs typeface="Segoe UI"/>
              </a:rPr>
              <a:t>At all times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5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body carrying the sensor
itself deforms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FF8C00"/>
                </a:solidFill>
                <a:latin typeface="Segoe UI"/>
                <a:ea typeface="Segoe UI"/>
                <a:cs typeface="Segoe UI"/>
              </a:rPr>
              <a:t>Strain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3708000"/>
            <a:ext cx="11040119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In real interaction, however, all three stimuli act simultaneously.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→ A sensor measuring only one physical quantity has limited practical utility.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→ Distinct stimuli superimpose onto a single electrical response  =  signal coupling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Why Each Modality Is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The case made by prior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296000"/>
            <a:ext cx="1296000" cy="1260000"/>
          </a:xfrm>
          <a:prstGeom prst="roundRect">
            <a:avLst>
              <a:gd name="adj" fmla="val 6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Proximity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1999" y="1350000"/>
            <a:ext cx="9456119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only means of intervening before a collision occurs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• Safe pHRI: reacting after contact is insufficient → anticipate the approach and correct the trajectory [6], [7]
• Sensors over the whole arm exterior for full-surface collision avoidance [8]; quasi whole-body sensing [9]
• Pre-shaping the hand before it reaches the object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2682000"/>
            <a:ext cx="1296000" cy="1260000"/>
          </a:xfrm>
          <a:prstGeom prst="roundRect">
            <a:avLst>
              <a:gd name="adj" fmla="val 6000"/>
            </a:avLst>
          </a:prstGeom>
          <a:solidFill>
            <a:srgbClr val="D6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Contact 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1999" y="2736000"/>
            <a:ext cx="9456119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Grasp stability depends directly on the applied force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• Without tactile feedback an object is dropped, or damaged by excessive force [10]
• Slip leads immediately to grasp failure unless detected and corrected quickly [11]
• Proximity answers when contact occurs; force answers how hard [12]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00" y="4068000"/>
            <a:ext cx="1296000" cy="1260000"/>
          </a:xfrm>
          <a:prstGeom prst="roundRect">
            <a:avLst>
              <a:gd name="adj" fmla="val 6000"/>
            </a:avLst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1999" y="4122000"/>
            <a:ext cx="9456119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Essential whenever the body carrying the sensor deforms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• Soft robots have effectively infinite DOF → accurate open-loop control is very difficult [13]
• Proprioception is a precondition for closing the control loop [14]
• Liquid-metal strain sensors enabling closed-loop soft crawling robots [15]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Why They Must Be Measured Together, at One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The three modalities are not independent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332000"/>
            <a:ext cx="110401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On a deforming surface, the very reference for the proximity and contact signals shifts with the deformation state.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872000"/>
            <a:ext cx="11040119" cy="1260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Measured: the strain state changes the pressure sensitivity by up to 6.6×  (cross-sensitivity)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At ε = 0 %,  loading to 10 N   →  ΔR/R₀ span  3.95 %p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At ε = 30 %, loading to 9.2 N  →  ΔR/R₀ span  26.14 %p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3312000"/>
            <a:ext cx="11040119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6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→ Without knowing the strain, a given resistance change cannot be mapped to a contact force.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5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Measuring the three quantities with three separate sensors does not remove this coupling.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5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5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It merely adds the problem of registering values measured at different locations.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▶  </a:t>
            </a:r>
            <a:r>
              <a:rPr sz="16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Acquire the three signals at the very point where the coupling arises, and decouple them jointly.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Limitations of Prior Work and How This Work Responds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60000"/>
            <a:ext cx="2829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 approach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000" y="1260000"/>
            <a:ext cx="4089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Limitation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96000" y="1260000"/>
            <a:ext cx="3945600" cy="36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Response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74000"/>
            <a:ext cx="282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Distributed rigid proximity sensors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000" y="1674000"/>
            <a:ext cx="408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Cannot conform to curved or deformable
surfaces; wire count ∝ sensor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96000" y="1674000"/>
            <a:ext cx="3945600" cy="6192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A single planar, stretchable coil
with a two-wire electrode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43600"/>
            <a:ext cx="282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Capacitive proximity + tactile sensors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000" y="2343600"/>
            <a:ext cx="408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Strain and proximity appear as the same
capacitance change — hard to separate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6000" y="2343600"/>
            <a:ext cx="3945600" cy="6192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Exploits the asymmetry: L depends on
(ε, d) while R depends on ε alone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00" y="3013200"/>
            <a:ext cx="282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Inductive soft sensors (single modality)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6000" y="3013200"/>
            <a:ext cx="408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Use only strain or only proximity
because decoupling is hard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96000" y="3013200"/>
            <a:ext cx="3945600" cy="6192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Estimates all three simultaneously
from the same coil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3682800"/>
            <a:ext cx="282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Hybrid integration of multiple devices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56000" y="3682800"/>
            <a:ext cx="408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Wiring, thickness and cross-talk
grow with the device count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96000" y="3682800"/>
            <a:ext cx="3945600" cy="6192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Time-shares one device with a 1 ms
TDM schedule instead of adding devices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00" y="4352400"/>
            <a:ext cx="282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Inductance measured with an LCR meter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56000" y="4352400"/>
            <a:ext cx="408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Requires benchtop instrumentation;
not mobile or wearable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96000" y="4352400"/>
            <a:ext cx="3945600" cy="6192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Replaced by a 65 × 52 mm board
carrying an LDC1614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5022000"/>
            <a:ext cx="282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PC-based AI decoupling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56000" y="5022000"/>
            <a:ext cx="408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20–40 ms USB round trip, ±5–15 ms jitter
→ feedback control impossible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96000" y="5022000"/>
            <a:ext cx="3945600" cy="6192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On-board MCU inference at 260 µs
with ~2 µs spread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Our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Three design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32000"/>
            <a:ext cx="3536039" cy="468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① Single electrode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872000"/>
            <a:ext cx="3536039" cy="864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Divide one device in time
rather than multiplying devices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880000"/>
            <a:ext cx="3320039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• One EGaIn spiral coil, two wires
• Device cross-talk cannot arise
• Wire count stays 2 regardless of the
   number of modalities
• Planarity and stretchability preserved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8039" y="1332000"/>
            <a:ext cx="3536039" cy="468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② 1 ms TDM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8039" y="1872000"/>
            <a:ext cx="3536039" cy="864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Apply AC excitation, DC excitation
and no excitation in sequence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6039" y="2880000"/>
            <a:ext cx="3320039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• AC → resonant frequency (L)
• DC → voltage divider (R)
• None → floating coil (TENG V)
• 1 kHz acquisition, 93.9 % CPU idle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0079" y="1332000"/>
            <a:ext cx="3536039" cy="468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③ Embedded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0079" y="1872000"/>
            <a:ext cx="3536039" cy="864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Complete both measurement and
inference inside the MCU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8079" y="2880000"/>
            <a:ext cx="3320039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• Analytical inversion diverges at
   singularities
• PC inference costs a 20–40 ms round trip
• 1,413-parameter model on the STM32
• Measured 260 µs, inside the 1 ms cycle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Sensor Design and Fabrication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EGaIn liquid-metal planar rectangular spiral coil (120 mm initial length, 0–30 % strain)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pic>
        <p:nvPicPr>
          <p:cNvPr id="7" name="Picture 6" descr="fig0_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260000"/>
            <a:ext cx="7380000" cy="490580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08000" y="1368000"/>
            <a:ext cx="34560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Key step: bridging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3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inner terminal of the spiral is routed out over the windings.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2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Without it the inner terminal cannot be reached without a through-connection or a counter electrode — which would immediately compromise planarity and stretchability.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Raising pressure sensitivity: bump array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5 mm diameter, 0.5 mm height, formed by film masking and an applicator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Load for a 100 % ΔR/R₀ response
210 N  →  20 N  (about 10×)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Electromagnetic Characteristics — Response Signature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368000"/>
            <a:ext cx="1749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Stimulus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6000" y="1368000"/>
            <a:ext cx="741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68000" y="1368000"/>
            <a:ext cx="1029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R_s (AC)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000" y="1368000"/>
            <a:ext cx="885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R_DC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4000" y="1368000"/>
            <a:ext cx="1029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V_TENG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4000" y="1368000"/>
            <a:ext cx="5277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Dominant mechanism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1782000"/>
            <a:ext cx="174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Stretching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6000" y="1782000"/>
            <a:ext cx="741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68000" y="1782000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8000" y="1782000"/>
            <a:ext cx="885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84000" y="1782000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4000" y="1782000"/>
            <a:ext cx="52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length ↑, section ↓ → R ↑ ;  coil geometry → L 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2336399"/>
            <a:ext cx="174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Conductor approach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6000" y="2336399"/>
            <a:ext cx="741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68000" y="2336399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48000" y="2336399"/>
            <a:ext cx="885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84000" y="2336399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4000" y="2336399"/>
            <a:ext cx="52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eddy-current loss → reflected impedance (attenuation)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2890798"/>
            <a:ext cx="174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Dielectric approach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6000" y="2890798"/>
            <a:ext cx="741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68000" y="2890798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48000" y="2890798"/>
            <a:ext cx="885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84000" y="2890798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4000" y="2890798"/>
            <a:ext cx="52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permittivity change / field redistribution (amplification)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3445197"/>
            <a:ext cx="174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Contact (charged body)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6000" y="3445197"/>
            <a:ext cx="741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8000" y="3445197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48000" y="3445197"/>
            <a:ext cx="885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84000" y="3445197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4000" y="3445197"/>
            <a:ext cx="52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triboelectric charge transfer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6000" y="3999596"/>
            <a:ext cx="174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Compression (bumps)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376000" y="3999596"/>
            <a:ext cx="741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↓*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0" y="3999596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8000" y="3999596"/>
            <a:ext cx="885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84000" y="3999596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4000" y="3999596"/>
            <a:ext cx="52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local section ↓ ;  Q ↓ → apparent L 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000" y="4643995"/>
            <a:ext cx="110401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ΔL has opposite signs for conductors and dielectrics  →  not a nuisance, but information for identifying an object's electrical property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Measurement System — 1 ms Time-Division Measurement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  <p:pic>
        <p:nvPicPr>
          <p:cNvPr id="6" name="Picture 5" descr="fig1_t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59" y="1224000"/>
            <a:ext cx="6189943" cy="424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00" y="5814000"/>
            <a:ext cx="110401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A TIM7 interrupt starts both paths → I²C DMA (LDC1614, ~200 µs) in parallel with ADC DMA (TENG 150 µs → R 150 µs)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All transfers use DMA → no blocking wait · 93.9 % CPU idle · a fixed period prevents jitter when coupled to the AI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A dedicated PCB and an in-house test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32000"/>
            <a:ext cx="5376059" cy="413999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Multisignal switching PCB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908000"/>
            <a:ext cx="5088059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STM32G473CBT6 — Cortex-M4F 170 MHz, 128 KB flash, 32 KB SRAM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LDC1614 — 28-bit, 1 kHz–10 MHz, I²C2 at 0x2A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ADG734 — 4-channel analog switch, t_on 29 ns, 200 MHz BW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65 × 52 mm six-layer board, up to a 4-channel array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TVS diodes protecting the TENG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059" y="1332000"/>
            <a:ext cx="5376059" cy="413999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Five-axis test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4059" y="1908000"/>
            <a:ext cx="5088059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Four symmetric tensile axes (XA/XB/YA/YB) + an independent Z proximity axis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700 × 700 mm frame, Nema23 + TB6600 drivers, Arduino Uno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320 steps/mm, PyQt5 GUI driving the sequence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Six-axis F/T sensor over CAN recording ground-truth force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PC-MCU time sync + automatic is_steady tagging of accel/decel transients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00" y="4644000"/>
            <a:ext cx="11040119" cy="864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Why not a commercial tensile tester?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In single-sided tension the specimen centre translates as it elongates. The proximity target must sit directly above the coil centre, so that translation becomes an error in the distance label.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Model inputs are always only (ΔL/L₀, ΔR/R₀); positions and forces are used solely as ground-truth labels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32000"/>
            <a:ext cx="813600" cy="342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40000" y="1332000"/>
            <a:ext cx="4845600" cy="342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Protocol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6000" y="1332000"/>
            <a:ext cx="2541600" cy="342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Size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28000" y="1332000"/>
            <a:ext cx="2613600" cy="342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Purpose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00" y="1728000"/>
            <a:ext cx="813600" cy="666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D1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40000" y="1728000"/>
            <a:ext cx="4845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37 strain levels + continuous 50→0 mm proximity (asynchronous)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36000" y="1728000"/>
            <a:ext cx="2541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≈ 78,000 rows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28000" y="1728000"/>
            <a:ext cx="2613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Initial two-stage PINN training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00" y="2444400"/>
            <a:ext cx="813600" cy="666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D2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40000" y="2444400"/>
            <a:ext cx="4845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P1: 19 strain levels × proximity sweep
P2: 13 proximity levels × strain sweep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36000" y="2444400"/>
            <a:ext cx="2541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metal 45,633 rows
hand 37,116 rows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8000" y="2444400"/>
            <a:ext cx="2613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Characterizing the (ε, d) response surface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160800"/>
            <a:ext cx="813600" cy="666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D3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40000" y="3160800"/>
            <a:ext cx="4845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Two continuous simultaneous sweeps, PC-MCU synchronized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36000" y="3160800"/>
            <a:ext cx="2541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188,232 rows
→ 33,450 after preprocessing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28000" y="3160800"/>
            <a:ext cx="2613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Training the proximity + strain decoupler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3877200"/>
            <a:ext cx="813600" cy="666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D4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40000" y="3877200"/>
            <a:ext cx="4845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19 strain levels × proximity-to-contact traverse with F/T recording (up to 10.1 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36000" y="3877200"/>
            <a:ext cx="2541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51,858 rows / 569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28000" y="3877200"/>
            <a:ext cx="2613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Contact physics analysis · MoE training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593600"/>
            <a:ext cx="813600" cy="666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D5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40000" y="4593600"/>
            <a:ext cx="4845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Three on-hardware sessions (Part 1 proximity / Part 2 strain / Part 3 both)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36000" y="4593600"/>
            <a:ext cx="2541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26.7k / 34.0k / 32.6k rows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28000" y="4593600"/>
            <a:ext cx="2613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Embedded real-time validation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Key Evidence — the (ε, d) Response Surfaces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The physical reason decoupling is possible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pic>
        <p:nvPicPr>
          <p:cNvPr id="7" name="Picture 6" descr="fig2_su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260000"/>
            <a:ext cx="7200000" cy="47173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64000" y="1404000"/>
            <a:ext cx="36000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Metal target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ΔR contours are essentially parallel to the distance axis
→ resistance depends on strain alone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ΔL contours bend sharply for d &lt; 10 mm
→ at fixed strain it swings from −15.7 % to +14.5 %, changing sign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Hand (dielectric) target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2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Contours of both signals are nearly vertical
→ little proximity information is carried by the inductance 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4000" y="4428000"/>
            <a:ext cx="3600000" cy="936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∇L and ∇R are globally linearly independent
→ direct evidence that decoupling is feasible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Why Not Simply Invert the Relations Analytically?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Two reasons Jacobian inversion fails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32000"/>
            <a:ext cx="11040119" cy="827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[ΔR, ΔL]ᵀ  =  J · [Δε, Δd]ᵀ        →        [ε, d]ᵀ  =  [ε₀, d₀]ᵀ + J⁻¹ · [ΔR, ΔL]ᵀ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2340000"/>
            <a:ext cx="3096000" cy="90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① Truncation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7999" y="2465999"/>
            <a:ext cx="7620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near field is dominated by the M² term and large strain by sinh⁻¹ and ln terms
→ the linear approximation is valid only locally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3420000"/>
            <a:ext cx="3096000" cy="90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② Singularity / loss of orthogonality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7999" y="3545999"/>
            <a:ext cx="7620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As the directions of ∇R and ∇L converge, det(J) → 0
→ J⁻¹ diverges and small measurement noise is greatly amplified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4608000"/>
            <a:ext cx="11040119" cy="1080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Measured: direct inversion of the physics expression with the cross term →  R² = 0.26   (diverging to R² = −75 near ε ≈ 0 with lower-quality data)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problem lies in the inversion method, not in missing information → adopt a learned decoupler that performs only forward operations, so singularities cannot arise, and runs with O(1) latency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Adding the Contact Modality — New Physics Appears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Hysteresis, creep and cross-sensitivity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pic>
        <p:nvPicPr>
          <p:cNvPr id="7" name="Picture 6" descr="fig3_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332000"/>
            <a:ext cx="10980000" cy="35409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3492000"/>
            <a:ext cx="11040119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4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During a constant-depth dwell, ΔL drifts a further 2.33 %p and ΔR 5.73 %p → residuals after unloading are only 0.57 %p and 0.08 %p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4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So most of it is a reversible time-lag component, not permanent damage → consistent with a standard linear solid (SLS) model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▶  </a:t>
            </a: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Exponential relaxation fit over the dwell →  τ = 0.93 s   (channel-wise: τ_L 1.33 s, τ_R 0.59 s; combined τ = 1.01 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Why Inductance Appears to Rise Under Compression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An inversion artefact caused by the falling Q factor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32000"/>
            <a:ext cx="11040119" cy="61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Q  =  ω · (max. stored energy / energy dissipated per cycle)  =  X / R_s  =  ω L / R_s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2088000"/>
            <a:ext cx="4320000" cy="5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sensor is pressed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000" y="2213999"/>
            <a:ext cx="612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L ↓ ,  R_DC ↑ ,  R_eddy 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2728800"/>
            <a:ext cx="4320000" cy="5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Q falls sharply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4000" y="2854799"/>
            <a:ext cx="612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Q = ω L / R_s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3369600"/>
            <a:ext cx="4320000" cy="5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true resonant frequency drops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000" y="3495599"/>
            <a:ext cx="612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f = 1/(2π√(LC)) · √(1 − 1/Q²)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00" y="4010400"/>
            <a:ext cx="4320000" cy="5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But we invert with the approximation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000" y="4136399"/>
            <a:ext cx="612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f ≈ 1/(2π√(LC)) ,  ΔL/L₀ = f₀²/f² − 1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00" y="4651200"/>
            <a:ext cx="4320000" cy="540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L is reported as having increased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000" y="4777199"/>
            <a:ext cx="612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an artefact — not a genuine rise in inductance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5400000"/>
            <a:ext cx="11040119" cy="756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No correction was applied. The learned decoupler maps (ΔL, ΔR) directly onto the target quantities, so as long as the Q dependence is consistently present in its inputs it produces correct outputs without an explicit inversion correction — a practical advantage over analytical inversion.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Decoupling Model ① — Two-Stage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The physical asymmetry, transferred directly into the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296000"/>
            <a:ext cx="5580000" cy="93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Stage 1 :  ΔR  →  ε̂          Stage 2 :  (ΔL, ε̂)  →  d̂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Imposes the physical fact that resistance is a function of strain alone, as an inductive bias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2376000"/>
            <a:ext cx="5580000" cy="29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Fair comparison at an equal budget (≈ 50 K parameters)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Two-stage      proximity MAE 1.783 mm  (50,306 par.)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End-to-end    proximity MAE 1.827 mm  (49,592 par.)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Asymmetry in the error structure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Strain error is homoscedastic — uniform across the range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Distance error is heteroscedastic — unstable beyond d = 10 mm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→ d ≤ 15 mm and d ≤ 10 mm are reported separately hereafter</a:t>
            </a:r>
          </a:p>
        </p:txBody>
      </p:sp>
      <p:pic>
        <p:nvPicPr>
          <p:cNvPr id="9" name="Picture 8" descr="fig4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000" y="1368000"/>
            <a:ext cx="4860000" cy="3594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6000" y="5922000"/>
            <a:ext cx="50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The 978-parameter medium-deep sits at the Pareto knee — within 0.09 mm of the 50,306-parameter model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Decoupling Model ② — SLS-EMA + Gate-MoE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Contact and non-contact differ in the very quantities to be produced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pic>
        <p:nvPicPr>
          <p:cNvPr id="7" name="Picture 6" descr="fig5_m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000" y="1296000"/>
            <a:ext cx="10260000" cy="4041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3348000"/>
            <a:ext cx="11040119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4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SLS-EMA: the τ = 1.01 s obtained in Section 5 is reduced to a causal exponential-moving-average history feature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EMAₙ = EMAₙ₋₁ + α(xₙ − EMAₙ₋₁),   α = 1 − exp(−Δt/τ)   →   one multiplication and one state variable; MCU cost effectively zero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Computed from the live ΔL and ΔR alone, not from labels → the training feature is reproducible exactly on the deployed board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▶  </a:t>
            </a: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This single feature cuts the force RMSE from 0.521 N to 0.253 N (the F/T sensor's own noise is ±0.19 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Ablation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Separating the contributions of Gate-MoE and SLS-EMA (D4, cycle-wise held-out)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68000"/>
            <a:ext cx="2973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0" y="1368000"/>
            <a:ext cx="1533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Gate acc.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84000" y="1368000"/>
            <a:ext cx="1533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Strain RMSE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8000" y="1368000"/>
            <a:ext cx="1605599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Distance RMSE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3999" y="1368000"/>
            <a:ext cx="1533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Force RMSE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7999" y="1368000"/>
            <a:ext cx="1533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Param.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00" y="1908000"/>
            <a:ext cx="2973600" cy="450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A:  Gate-MoE + SLS-EMA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0" y="19080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1.000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84000" y="19080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0.108 %p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8000" y="1908000"/>
            <a:ext cx="1605599" cy="450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0.318 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23999" y="19080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0.253 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07999" y="19080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1,429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2408400"/>
            <a:ext cx="297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B:  SLS-EMA only (unified)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00000" y="24084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84000" y="24084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0.288 %p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8000" y="2408400"/>
            <a:ext cx="1605599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0.322 mm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23999" y="24084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0.079 mm 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7999" y="24084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1,506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00" y="2908800"/>
            <a:ext cx="297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C:  Gate-MoE only (no history)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0000" y="29088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0.982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84000" y="29088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0.194 %p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8000" y="2908800"/>
            <a:ext cx="1605599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0.410 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23999" y="29088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0.521 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07999" y="29088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1,317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3409200"/>
            <a:ext cx="297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D:  Gate-MoE + GRU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0000" y="34092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1.000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84000" y="34092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0.123 %p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68000" y="3409200"/>
            <a:ext cx="1605599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0.318 mm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23999" y="34092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0.263 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07999" y="34092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1,061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00" y="3999600"/>
            <a:ext cx="11040119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benefit of SLS-EMA is concentrated in force  —  from C to A the force RMSE falls 0.521 → 0.253 N (less than half), strain only 0.194 → 0.108 %p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gate-expert structure shows up from B to A  —  the unified model is 2.7× worse in strain RMSE (0.288 %p), because the strain response differs between regimes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•  </a:t>
            </a: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GRU (D) ties on accuracy with only 306 parameters for the pressure expert — yet A was deployed (mature dense-layer support in X-CUBE-AI, no hidden state to carry)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Embedded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sklearn → ONNX → stedgeai → STM32, with on-board inference once per TDM 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68000"/>
            <a:ext cx="2829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000" y="1368000"/>
            <a:ext cx="2685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Two-stage INT8 (first)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2000" y="1368000"/>
            <a:ext cx="2253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medium-deep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96000" y="1368000"/>
            <a:ext cx="3045600" cy="36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MoE (final)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00" y="1782000"/>
            <a:ext cx="2829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Parameters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000" y="1782000"/>
            <a:ext cx="2685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50,306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2000" y="1782000"/>
            <a:ext cx="2253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978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96000" y="1782000"/>
            <a:ext cx="3045600" cy="432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1,413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00" y="2264400"/>
            <a:ext cx="2829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Weight 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6000" y="2264400"/>
            <a:ext cx="2685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~52 KB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2000" y="2264400"/>
            <a:ext cx="2253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3,912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96000" y="2264400"/>
            <a:ext cx="3045600" cy="432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5.66 KB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2746800"/>
            <a:ext cx="2829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Activation SRAM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56000" y="2746800"/>
            <a:ext cx="2685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15.3 KB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2000" y="2746800"/>
            <a:ext cx="2253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288 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96000" y="2746800"/>
            <a:ext cx="3045600" cy="432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368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3229200"/>
            <a:ext cx="2829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Total flash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000" y="3229200"/>
            <a:ext cx="2685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112.5 KB (85.8 %)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2000" y="3229200"/>
            <a:ext cx="2253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~68 KB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6000" y="3229200"/>
            <a:ext cx="3045600" cy="432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83.5 KB (65.2 %)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3711600"/>
            <a:ext cx="2829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Inference latency (DWT)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56000" y="3711600"/>
            <a:ext cx="2685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1,068 µs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2000" y="3711600"/>
            <a:ext cx="2253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141 µs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96000" y="3711600"/>
            <a:ext cx="3045600" cy="432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260 µs (p95 263 µs)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194000"/>
            <a:ext cx="2829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Completes within 1 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56000" y="4194000"/>
            <a:ext cx="2685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2000" y="4194000"/>
            <a:ext cx="2253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yes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96000" y="4194000"/>
            <a:ext cx="3045600" cy="432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yes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00" y="4766400"/>
            <a:ext cx="11040119" cy="827999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The latency spread is only ~2 µs  →  usable in a deterministic control loop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same inference on a PC costs a 20–40 ms USB round trip with ±5–15 ms jitter  →  edge inference here is a requirement for real-time operation, not an optimization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On-Hardware Real-Time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A session separate from training · no post-hoc inference on the PC (session 0819-153948, 809 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pic>
        <p:nvPicPr>
          <p:cNvPr id="7" name="Picture 6" descr="fig6_rea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059" y="1224000"/>
            <a:ext cx="6485858" cy="464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030001"/>
            <a:ext cx="110401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Part 1 (0–398 s) strain held, proximity swept    |    Part 2 (400–730 s) proximity held, strain swept    |    Part 3 (from 738 s) both axes together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Part-Wise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Isolating the case where each axis varies alone from where both vary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pic>
        <p:nvPicPr>
          <p:cNvPr id="7" name="Picture 6" descr="fig7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332000"/>
            <a:ext cx="5940000" cy="198571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39999" y="1476000"/>
            <a:ext cx="2109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Segment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99999" y="1476000"/>
            <a:ext cx="993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Strain R²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43999" y="1476000"/>
            <a:ext cx="1065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Distance R²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159999" y="1476000"/>
            <a:ext cx="885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Force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9999" y="2016000"/>
            <a:ext cx="2109600" cy="413999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Part 1 — proximity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9999" y="2016000"/>
            <a:ext cx="993600" cy="413999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0.981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43999" y="2016000"/>
            <a:ext cx="1065600" cy="413999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0.940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59999" y="2016000"/>
            <a:ext cx="885600" cy="413999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0.430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39999" y="2480399"/>
            <a:ext cx="2109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Part 2 — strain 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9999" y="2480399"/>
            <a:ext cx="993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0.492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43999" y="2480399"/>
            <a:ext cx="1065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−0.797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9999" y="2480399"/>
            <a:ext cx="885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999" y="2944798"/>
            <a:ext cx="2109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Part 3 — simultaneous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9999" y="2944798"/>
            <a:ext cx="993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0.602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43999" y="2944798"/>
            <a:ext cx="1065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−2.051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59999" y="2944798"/>
            <a:ext cx="885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999" y="3517197"/>
            <a:ext cx="5256000" cy="29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Part 1 — all three quantities recovered well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Strain RMSE 1.37 %p · distance RMSE 2.11 mm
Gate accuracy 98.3 %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Parts 2 and 3 — the distance R² goes negative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25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Proximity is quasi-static, so the ground-truth
variance is very small. Since R² = 1 − RMSE²/Var(y),
a small denominator degrades R² even for a modest
absolute error. (Part 2 RMSE 6.19 mm — about 3× Part 1)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degradation is nonetheless real: when proximity is quasi-static, the information left in the inductance falls to the noise level.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A Failure Mode Visible Only on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Offline metrics alone cannot guarantee embedded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32000"/>
            <a:ext cx="11040119" cy="576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Offline held-out gate accuracy 100.0 %  →  yet on hardware the gate kept reporting contact after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2052000"/>
            <a:ext cx="1104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Cause — a self-reinforcing loop created by the training/deployment mismatch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000" y="248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8000" y="2563200"/>
            <a:ext cx="1044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On release, the raw ΔL and ΔR change immediately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970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8000" y="3049200"/>
            <a:ext cx="1044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But the EMA stays at the pressed value for about τ ≈ 1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000" y="3456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8000" y="3535200"/>
            <a:ext cx="1044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gate, seeing that stale EMA, keeps reporting contact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000" y="3942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8000" y="4021200"/>
            <a:ext cx="1044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C1D40"/>
                </a:solidFill>
                <a:latin typeface="Segoe UI"/>
                <a:ea typeface="Segoe UI"/>
                <a:cs typeface="Segoe UI"/>
              </a:rPr>
              <a:t>Its decision never changes, so the EMA reset never triggers  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00" y="4518000"/>
            <a:ext cx="1104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In training the EMA could be reset at the exact instant using the label z; the deployed board has no such ground truth.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5004000"/>
            <a:ext cx="11040119" cy="11160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1F77B4"/>
                </a:solidFill>
                <a:latin typeface="Segoe UI"/>
                <a:ea typeface="Segoe UI"/>
                <a:cs typeface="Segoe UI"/>
              </a:rPr>
              <a:t>Fix — revert the gate to a two-input form without EMA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Contact is an instantaneous physical transition with no reason to be smoothed. Offline accuracy dropped from 100.0 % to 98.2 %, but behaviour on hardware was restored.
Experts A and B, where history genuinely helps regression, kept their four inputs.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404000"/>
            <a:ext cx="125999" cy="684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440000"/>
            <a:ext cx="1060811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Three signals acquired simultaneously from one electrode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Two-wire EGaIn spiral coil · 1 ms TDM · 1 kHz · 93.9 % CPU idle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2214000"/>
            <a:ext cx="125999" cy="684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250000"/>
            <a:ext cx="1060811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The physical basis for decoupling confirmed by measurement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R depends on ε alone, L on (ε, d) — ∇L and ∇R are globally linearly independent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3024000"/>
            <a:ext cx="125999" cy="684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3060000"/>
            <a:ext cx="1060811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Contact-regime physics identified and folded into the model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SLS viscoelasticity τ ≈ 1.0 s → causal EMA history feature; the Q-factor artefact explained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3834000"/>
            <a:ext cx="125999" cy="684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3870000"/>
            <a:ext cx="1060811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A 1,413-parameter model embedded on the STM32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On-board inference at 260 µs per TDM cycle (p95 263 µs), ~2 µs spread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00" y="4644000"/>
            <a:ext cx="125999" cy="684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4680000"/>
            <a:ext cx="1060811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On-hardware performance reported together with its limits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Part 1: strain R² 0.981 · distance R² 0.940 · gate 98 %; quasi-static degradation reported as measured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404000"/>
            <a:ext cx="756000" cy="90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(i)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8000" y="1476000"/>
            <a:ext cx="9960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Also acquire the AC equivalent series resistance R_s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Obtaining R_s in the same TDM slot completes the response signature, letting conductors and dielectrics be told apart by sign and enabling the Q-factor correction to be applied directly.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2448000"/>
            <a:ext cx="756000" cy="90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(ii)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8000" y="2520000"/>
            <a:ext cx="9960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Multi-frequency impedance measurement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Real and imaginary impedance at several frequencies would improve material discrimination and proximity estimation together, and the extra channels may ease the quasi-static problem.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3492000"/>
            <a:ext cx="756000" cy="90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(iii)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8000" y="3564000"/>
            <a:ext cx="9960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Two-dimensional strain decomposition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ΔL = f(Δl, ΔA, Δd) whereas ΔR = f(Δl) → L and R have different effective eigen-directions. The cruciform specimen and four-axis stage are already in place.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4536000"/>
            <a:ext cx="756000" cy="90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(iv)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48000" y="4608000"/>
            <a:ext cx="9960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Migration to a recurrent structure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The GRU matched the EMA-based models with 306 parameters. Verifying X-CUBE-AI's recurrent-layer support, hidden-state reset and quantization stability on this board is the next task.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62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2592000"/>
            <a:ext cx="11040119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1600"/>
              </a:spcAft>
            </a:pPr>
            <a:r>
              <a:rPr sz="4000" b="1" i="0">
                <a:solidFill>
                  <a:srgbClr val="202020"/>
                </a:solidFill>
                <a:latin typeface="Segoe UI"/>
                <a:ea typeface="Segoe UI"/>
                <a:cs typeface="Segoe UI"/>
              </a:rPr>
              <a:t>Thank you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606060"/>
                </a:solidFill>
                <a:latin typeface="Segoe UI"/>
                <a:ea typeface="Segoe UI"/>
                <a:cs typeface="Segoe UI"/>
              </a:rPr>
              <a:t>Heejun Moon  ·  BioRobotics and Control Lab,  Korea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